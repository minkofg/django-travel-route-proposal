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31"/>
  </p:handoutMasterIdLst>
  <p:sldIdLst>
    <p:sldId id="368" r:id="rId3"/>
    <p:sldId id="369" r:id="rId5"/>
    <p:sldId id="370" r:id="rId6"/>
    <p:sldId id="371" r:id="rId7"/>
    <p:sldId id="372" r:id="rId8"/>
    <p:sldId id="373" r:id="rId9"/>
    <p:sldId id="374" r:id="rId10"/>
    <p:sldId id="375" r:id="rId11"/>
    <p:sldId id="376" r:id="rId12"/>
    <p:sldId id="377" r:id="rId13"/>
    <p:sldId id="378" r:id="rId14"/>
    <p:sldId id="379" r:id="rId15"/>
    <p:sldId id="380" r:id="rId16"/>
    <p:sldId id="381" r:id="rId17"/>
    <p:sldId id="382" r:id="rId18"/>
    <p:sldId id="383" r:id="rId19"/>
    <p:sldId id="384" r:id="rId20"/>
    <p:sldId id="385" r:id="rId21"/>
    <p:sldId id="386" r:id="rId22"/>
    <p:sldId id="387" r:id="rId23"/>
    <p:sldId id="388" r:id="rId24"/>
    <p:sldId id="389" r:id="rId25"/>
    <p:sldId id="390" r:id="rId26"/>
    <p:sldId id="391" r:id="rId27"/>
    <p:sldId id="392" r:id="rId28"/>
    <p:sldId id="393" r:id="rId29"/>
    <p:sldId id="394" r:id="rId30"/>
  </p:sldIdLst>
  <p:sldSz cx="13679170" cy="791972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D956171A-8F56-45EB-834E-C38C95D5B93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</p14:sldIdLst>
        </p14:section>
        <p14:section name="组织宣传" id="{F787C6D9-7CF9-4852-92D5-9342800D3C07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469" userDrawn="1">
          <p15:clr>
            <a:srgbClr val="A4A3A4"/>
          </p15:clr>
        </p15:guide>
        <p15:guide id="2" pos="431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亚瑟的 豆豆" initials="亚瑟的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9B"/>
    <a:srgbClr val="004EA2"/>
    <a:srgbClr val="0F60B7"/>
    <a:srgbClr val="00B097"/>
    <a:srgbClr val="B8183F"/>
    <a:srgbClr val="E7E6E6"/>
    <a:srgbClr val="F6F6F6"/>
    <a:srgbClr val="EDEDED"/>
    <a:srgbClr val="E7F5F8"/>
    <a:srgbClr val="1A67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6" d="100"/>
          <a:sy n="96" d="100"/>
        </p:scale>
        <p:origin x="-564" y="-90"/>
      </p:cViewPr>
      <p:guideLst>
        <p:guide orient="horz" pos="2469"/>
        <p:guide pos="431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-3972" y="-114"/>
      </p:cViewPr>
      <p:guideLst>
        <p:guide orient="horz" pos="3223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5" Type="http://schemas.openxmlformats.org/officeDocument/2006/relationships/commentAuthors" Target="commentAuthors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handoutMaster" Target="handoutMasters/handoutMaster1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88595" cy="57471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9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167998" y="0"/>
            <a:ext cx="3188595" cy="57471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9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10879875"/>
            <a:ext cx="3188595" cy="57471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9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167998" y="10879875"/>
            <a:ext cx="3188595" cy="57471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9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各位老师好，我的课题是《基于 Django 的短途旅游路线规划系统设计与实现》。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下面介绍课题范围、核心功能、技术方案，以及验证和进度安排。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短途旅游的难点不仅是选择景点，还要考虑车程、开放时间、游玩时长和返程。景点看着近，也可能来不及在闭馆前玩完，换景点以后还要重新计算。本课题准备做一个能生成、调整和检查行程的网站。范围限定为长沙及周边二十到三十个景点，自驾一至三日，每天从同一出发点出发并返回；不做预订和实时拥堵预测，费用只统计门票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系统有游客、普通用户和管理员。游客可以浏览景点；普通用户登录后规划和管理自己的行程；管理员维护账号、基础数据，并查看统计和验证结果。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功能分为十个模块，可以归为用户核心业务和基础管理两组。其中路线规划与约束检查是重点，地图、行程调整、统计和验证都围绕它们的结果开展，不是十套独立系统。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用户先检索景点、加入候选清单，再输入日期、天数、每日时间、兴趣和门票预算。系统生成分日安排，显示到达、等待、游玩与返程时间。用户替换景点或调整顺序以后，重新计算并检查，通过后才保存。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后台主要维护资料和有效状态。日常运行统计与固定场景验证分开记录，但复用相同的计算规则，避免口径不一致。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路线拟采用带时间窗的逐日贪心。每一步先排除违反开放时间、返程、预算或不重复条件的景点，再优先选兴趣匹配多的；匹配相同，选新增耗时较少的。当天不能再加，就安排下一天。这种方法便于实现和解释，但不保证全局最优，失败也不能证明无解。图中是虚拟算例：九点出发，交通、等待、游玩和返程合计二百二十分钟，十二点四十返回。系统要检查的不只是到达时没关门，而是在闭馆前玩完、并按时返回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系统采用 B/S 架构，是 Django 单体应用，不是前后端分离。浏览器页面负责输入和展示，后端负责认证、业务计算与约束检查，数据通过 ORM 保存到 SQLite。路线和检查写成独立的 Python 模块，便于单独测试。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一次生成请求先经过 URL 路由和视图，检查登录与参数，再调用路线生成和约束检查服务。数据通过 ORM 读写，最后由模板渲染结果页面。这对应 Django 的模型、视图、模板组织方式。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选择 Django 是为了复用认证、后台和 ORM，减少基础功能的重复开发，把时间放在核心路线业务上。当前数据量小、以本地演示为主，数据库先使用 SQLite。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接口分为用户访问的页面入口、内部服务调用和外部地图接口。腾讯路径规划服务用于获取并按授权保存驾车耗时；腾讯地图 JS API 只展示点位和访问顺序。地图显示失败时保留文字行程。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主要数据包括用户、景点、基础分类、交通路段、行程、行程明细和规划记录。行程保存归属与总信息，明细保存分日顺序和时间快照。后端检查行程归属，只允许用户操作本人行程。历史引用的景点只设为失效，并保留数据版本，资料变化时提示重新校验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计划用一至三日共十五组固定场景验证：每组留记录，所有判成功的行程都必须满足约束；异常和越权访问另行测试。按报告进度，十二月二十二日前完成系统和论文初稿，优先实现规划、检查和调整，再补地图、统计与测试。特色是规则可检查、调整后复查和结果可追溯，不宣称提出新优化算法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/>
              <a:t>我的汇报完毕，恳请各位老师批评指正。</a:t>
            </a:r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备查页：开题报告图1「用户与权限管理模块用例图」。老师问到相关模块时翻到这一页。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备查页：开题报告图2「景点数据管理模块用例图」。老师问到相关模块时翻到这一页。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备查页：开题报告图3「景点检索模块用例图」。老师问到相关模块时翻到这一页。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备查页：开题报告图4「路线规划模块用例图」。老师问到相关模块时翻到这一页。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备查页：开题报告图5「约束检查与冲突解释模块用例图」。老师问到相关模块时翻到这一页。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备查页：开题报告图6「行程调整与管理模块用例图」。老师问到相关模块时翻到这一页。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备查页：开题报告图7「地图与结果展示模块用例图」。老师问到相关模块时翻到这一页。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备查页：开题报告图8「后台数据维护模块用例图」。老师问到相关模块时翻到这一页。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备查页：开题报告图9「规划统计分析模块用例图」。老师问到相关模块时翻到这一页。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备查页：开题报告图10「路线规划验证模块用例图」。老师问到相关模块时翻到这一页。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备查页：开题报告图11「系统总体用例图」。老师问到相关模块时翻到这一页。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备查页：开题报告图12「系统功能模块图」。老师问到相关模块时翻到这一页。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/>
      </p:par>
    </p:tnLst>
  </p:timing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iming>
    <p:tnLst>
      <p:par>
        <p:cTn id="1" dur="indefinite" restart="never" nodeType="tmRoot"/>
      </p:par>
    </p:tnLst>
  </p:timing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蓝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6827"/>
            <a:ext cx="13747750" cy="795274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127248" y="2821098"/>
            <a:ext cx="10378440" cy="119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基于Django的短途旅游路线规划系统设计与实现</a:t>
            </a:r>
            <a:endParaRPr lang="zh-CN" altLang="en-US" sz="3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0698480" y="4181666"/>
            <a:ext cx="2103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2026年10月</a:t>
            </a:r>
            <a:endParaRPr lang="en-US" altLang="zh-CN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图片 8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57" y="433989"/>
            <a:ext cx="3076718" cy="527254"/>
          </a:xfrm>
          <a:prstGeom prst="rect">
            <a:avLst/>
          </a:prstGeom>
        </p:spPr>
      </p:pic>
      <p:pic>
        <p:nvPicPr>
          <p:cNvPr id="24" name="图片 23" descr="广科辅助"/>
          <p:cNvPicPr>
            <a:picLocks noChangeAspect="1"/>
          </p:cNvPicPr>
          <p:nvPr/>
        </p:nvPicPr>
        <p:blipFill>
          <a:blip r:embed="rId3">
            <a:lum bright="-12000"/>
          </a:blip>
          <a:stretch>
            <a:fillRect/>
          </a:stretch>
        </p:blipFill>
        <p:spPr>
          <a:xfrm>
            <a:off x="0" y="3747052"/>
            <a:ext cx="2992863" cy="417298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246120" y="4069080"/>
            <a:ext cx="731520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本科毕业设计（论文）开题答辩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汇报人：　　专业：软件工程　　指导教师：</a:t>
            </a:r>
            <a:r>
              <a:rPr lang="zh-CN" sz="16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崔梦</a:t>
            </a:r>
            <a:r>
              <a:rPr lang="zh-CN" sz="16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银</a:t>
            </a:r>
            <a:endParaRPr lang="zh-CN" sz="16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95028" y="234565"/>
            <a:ext cx="2161540" cy="379095"/>
          </a:xfrm>
          <a:prstGeom prst="rect">
            <a:avLst/>
          </a:prstGeom>
        </p:spPr>
      </p:pic>
      <p:cxnSp>
        <p:nvCxnSpPr>
          <p:cNvPr id="5" name="直接连接符 4"/>
          <p:cNvCxnSpPr/>
          <p:nvPr/>
        </p:nvCxnSpPr>
        <p:spPr>
          <a:xfrm flipH="1">
            <a:off x="2638165" y="426626"/>
            <a:ext cx="10999814" cy="0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92511" y="2433185"/>
            <a:ext cx="11320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 smtClean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目 录</a:t>
            </a:r>
            <a:endParaRPr lang="zh-CN" altLang="en-US" sz="3200" b="1" dirty="0">
              <a:solidFill>
                <a:srgbClr val="004EA2"/>
              </a:solidFill>
              <a:latin typeface="思源黑体 CN Medium" pitchFamily="34" charset="-122"/>
              <a:ea typeface="思源黑体 CN Medium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3812020" y="2534503"/>
            <a:ext cx="4846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b="1" dirty="0" smtClean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01 / 选题背景与意义</a:t>
            </a:r>
            <a:endParaRPr lang="zh-CN" altLang="en-US" dirty="0"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3812020" y="3004484"/>
            <a:ext cx="4919869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3812020" y="3166784"/>
            <a:ext cx="4846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b="1" dirty="0" smtClean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02 / 系统角色与功能</a:t>
            </a:r>
            <a:endParaRPr lang="zh-CN" altLang="en-US" dirty="0"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16" name="直接连接符 15"/>
          <p:cNvCxnSpPr/>
          <p:nvPr/>
        </p:nvCxnSpPr>
        <p:spPr>
          <a:xfrm>
            <a:off x="3812020" y="3636765"/>
            <a:ext cx="4919869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/>
          <p:cNvSpPr/>
          <p:nvPr/>
        </p:nvSpPr>
        <p:spPr>
          <a:xfrm>
            <a:off x="3812020" y="3824496"/>
            <a:ext cx="4846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b="1" dirty="0" smtClean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03 / 系统架构与技术</a:t>
            </a:r>
            <a:endParaRPr lang="zh-CN" altLang="en-US" dirty="0"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18" name="直接连接符 17"/>
          <p:cNvCxnSpPr/>
          <p:nvPr/>
        </p:nvCxnSpPr>
        <p:spPr>
          <a:xfrm>
            <a:off x="3812020" y="4294477"/>
            <a:ext cx="4919869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 18"/>
          <p:cNvSpPr/>
          <p:nvPr/>
        </p:nvSpPr>
        <p:spPr>
          <a:xfrm>
            <a:off x="3812020" y="4454502"/>
            <a:ext cx="4846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b="1" dirty="0" smtClean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04 / 接口与数据设计</a:t>
            </a:r>
            <a:endParaRPr lang="zh-CN" altLang="en-US" dirty="0"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3812020" y="4924483"/>
            <a:ext cx="4919869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/>
          <p:cNvSpPr/>
          <p:nvPr/>
        </p:nvSpPr>
        <p:spPr>
          <a:xfrm>
            <a:off x="3812019" y="5081485"/>
            <a:ext cx="4846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800" b="1" dirty="0" smtClean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05 / 进度安排与预期成果</a:t>
            </a:r>
            <a:endParaRPr lang="zh-CN" altLang="en-US" dirty="0"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22" name="直接连接符 21"/>
          <p:cNvCxnSpPr/>
          <p:nvPr/>
        </p:nvCxnSpPr>
        <p:spPr>
          <a:xfrm>
            <a:off x="3812019" y="5551466"/>
            <a:ext cx="4919869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等腰三角形 22"/>
          <p:cNvSpPr/>
          <p:nvPr/>
        </p:nvSpPr>
        <p:spPr>
          <a:xfrm rot="5400000">
            <a:off x="1303823" y="2544365"/>
            <a:ext cx="374286" cy="322660"/>
          </a:xfrm>
          <a:prstGeom prst="triangle">
            <a:avLst/>
          </a:prstGeom>
          <a:solidFill>
            <a:srgbClr val="004EA2"/>
          </a:solidFill>
          <a:ln>
            <a:solidFill>
              <a:srgbClr val="004EA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6" name="图片 25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选题背景、意义与研究现状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28800"/>
            <a:ext cx="5897880" cy="475488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182880" tIns="27432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研究背景与意义</a:t>
            </a:r>
            <a:endParaRPr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77240" y="2304288"/>
            <a:ext cx="5897880" cy="228600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14016"/>
            <a:ext cx="5623560" cy="2148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marL="201295" indent="-201295">
              <a:lnSpc>
                <a:spcPct val="115000"/>
              </a:lnSpc>
              <a:spcAft>
                <a:spcPts val="8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短途旅游多为 1—3 天，定路线既要挑景点，也要算路上时间、开放时间和游玩时长。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5000"/>
              </a:lnSpc>
              <a:spcAft>
                <a:spcPts val="8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看着近的景点也可能因闭馆早、回程晚排不进同一天；换掉一个景点，后面的时间都要重算。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5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意义：</a:t>
            </a: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给出每天都能走完、可逐项检查的行程；同时完整覆盖需求分析、数据库设计、Web 开发和测试。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903720" y="1828800"/>
            <a:ext cx="5897880" cy="475488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182880" tIns="27432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国内外研究现状</a:t>
            </a:r>
            <a:endParaRPr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903720" y="2304288"/>
            <a:ext cx="5897880" cy="228600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2414016"/>
            <a:ext cx="5623560" cy="2148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marL="201295" indent="-201295">
              <a:lnSpc>
                <a:spcPct val="115000"/>
              </a:lnSpc>
              <a:spcAft>
                <a:spcPts val="8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国内：</a:t>
            </a: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王佳琪、赵星、谭鸿博、朱志国等研究微度假选择、多模式旅游路径和景点推荐。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5000"/>
              </a:lnSpc>
              <a:spcAft>
                <a:spcPts val="8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国外：</a:t>
            </a: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Halder、Zhong、Adamo 等研究个性化行程推荐、带时间窗的多日行程和多模式规划。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5000"/>
              </a:lnSpc>
              <a:spcAft>
                <a:spcPts val="400"/>
              </a:spcAft>
              <a:buClr>
                <a:srgbClr val="E46C0A"/>
              </a:buClr>
              <a:buFont typeface="Arial" panose="020B0604020202020204"/>
              <a:buChar char="•"/>
            </a:pPr>
            <a:r>
              <a:rPr sz="1600" b="1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不足：</a:t>
            </a: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多关注「推荐哪些景点、怎么走」，较少讨论「怎样排成每天能走完、时间和门票都不超的行程」。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77240" y="4754880"/>
            <a:ext cx="548640" cy="960120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vert="eaVert" wrap="square" lIns="18288" tIns="27432" rIns="18288" bIns="27432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研究范围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63040" y="4754880"/>
            <a:ext cx="2752344" cy="329184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案例区域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463040" y="5084064"/>
            <a:ext cx="2752344" cy="630936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tIns="18288" bIns="18288" rtlCol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5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长沙及周边</a:t>
            </a:r>
            <a:endParaRPr sz="145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25112" y="4754880"/>
            <a:ext cx="2752344" cy="329184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景点规模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25112" y="5084064"/>
            <a:ext cx="2752344" cy="630936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tIns="18288" bIns="18288" rtlCol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5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计划整理 20—30 个景点</a:t>
            </a:r>
            <a:endParaRPr sz="145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187184" y="4754880"/>
            <a:ext cx="2752344" cy="329184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出行方式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87184" y="5084064"/>
            <a:ext cx="2752344" cy="630936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tIns="18288" bIns="18288" rtlCol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5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自驾 1—3 日，每天从同一出发点出发并返回</a:t>
            </a:r>
            <a:endParaRPr sz="145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049256" y="4754880"/>
            <a:ext cx="2752344" cy="329184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不在范围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0049256" y="5084064"/>
            <a:ext cx="2752344" cy="630936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tIns="18288" bIns="18288" rtlCol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5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住宿、餐饮、实时路况不做；费用只计门票</a:t>
            </a:r>
            <a:endParaRPr sz="145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77240" y="5916168"/>
            <a:ext cx="73152" cy="731520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0392" y="5916168"/>
            <a:ext cx="10213848" cy="7315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rIns="137160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50" b="1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本课题：用 Django 做一个能「生成—调整—检查」短途行程的 Web 系统，先用长沙数据跑通，重点把「排得出、走得完、改了能复查」做扎实。</a:t>
            </a:r>
            <a:endParaRPr sz="1650" b="1">
              <a:solidFill>
                <a:srgbClr val="003E9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系统角色：三类使用者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28800"/>
            <a:ext cx="3822192" cy="822960"/>
          </a:xfrm>
          <a:prstGeom prst="rect">
            <a:avLst/>
          </a:prstGeom>
          <a:solidFill>
            <a:srgbClr val="1E94D4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1947672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00" b="1">
                <a:solidFill>
                  <a:srgbClr val="1E94D4"/>
                </a:solidFill>
                <a:latin typeface="微软雅黑" panose="020B0503020204020204" charset="-122"/>
                <a:ea typeface="微软雅黑" panose="020B0503020204020204" charset="-122"/>
              </a:rPr>
              <a:t>游</a:t>
            </a:r>
            <a:endParaRPr sz="2100" b="1">
              <a:solidFill>
                <a:srgbClr val="1E94D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664208" y="1901952"/>
            <a:ext cx="283464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游客</a:t>
            </a:r>
            <a:endParaRPr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未登录状态</a:t>
            </a:r>
            <a:endParaRPr sz="13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7240" y="2651760"/>
            <a:ext cx="3822192" cy="30175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788920"/>
            <a:ext cx="3639312" cy="2834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1E94D4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浏览、检索景点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1E94D4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查看景点开放时间、门票和位置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1E94D4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注册账号，登录后成为普通用户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878324" y="1828800"/>
            <a:ext cx="3822192" cy="82296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42916" y="1947672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用</a:t>
            </a:r>
            <a:endParaRPr sz="21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765292" y="1901952"/>
            <a:ext cx="283464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普通用户</a:t>
            </a:r>
            <a:endParaRPr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已登录</a:t>
            </a:r>
            <a:endParaRPr sz="13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8324" y="2651760"/>
            <a:ext cx="3822192" cy="30175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8052" y="2788920"/>
            <a:ext cx="3639312" cy="2834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登录、修改密码、维护个人信息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检索景点，管理候选清单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输入条件，生成 1—3 日行程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替换景点、调整顺序后自动复查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保存行程，查看、修改、删除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查看地图与分日时间表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979408" y="1828800"/>
            <a:ext cx="3822192" cy="822960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0" y="1947672"/>
            <a:ext cx="585216" cy="5852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00" b="1">
                <a:solidFill>
                  <a:srgbClr val="15807C"/>
                </a:solidFill>
                <a:latin typeface="微软雅黑" panose="020B0503020204020204" charset="-122"/>
                <a:ea typeface="微软雅黑" panose="020B0503020204020204" charset="-122"/>
              </a:rPr>
              <a:t>管</a:t>
            </a:r>
            <a:endParaRPr sz="2100" b="1">
              <a:solidFill>
                <a:srgbClr val="1580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866376" y="1901952"/>
            <a:ext cx="283464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管理员</a:t>
            </a:r>
            <a:endParaRPr sz="21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后台管理</a:t>
            </a:r>
            <a:endParaRPr sz="13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979408" y="2651760"/>
            <a:ext cx="3822192" cy="3017520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9136" y="2788920"/>
            <a:ext cx="3639312" cy="2834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15807C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管理账号、分配角色、禁用账号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15807C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新增、修改景点，设为失效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15807C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维护标签、区域、出发点等数据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15807C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查看操作日志与异常记录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1200"/>
              </a:spcAft>
              <a:buClr>
                <a:srgbClr val="15807C"/>
              </a:buClr>
              <a:buFont typeface="Arial" panose="020B0604020202020204"/>
              <a:buChar char="•"/>
            </a:pPr>
            <a:r>
              <a:rPr sz="17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规划统计分析、路线规划验证</a:t>
            </a:r>
            <a:endParaRPr sz="17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77240" y="5943600"/>
            <a:ext cx="73152" cy="731520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0392" y="5943600"/>
            <a:ext cx="10213848" cy="7315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rIns="137160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外部参与者：腾讯地图服务</a:t>
            </a:r>
            <a:r>
              <a:rPr sz="1700" b="0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——负责标注出发点和景点、显示访问顺序；只做展示，不参与路线计算。</a:t>
            </a:r>
            <a:endParaRPr sz="1700" b="0">
              <a:solidFill>
                <a:srgbClr val="003E9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系统功能模块：10 个模块、70 个功能点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28800"/>
            <a:ext cx="475488" cy="1901952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vert="eaVert" wrap="square" lIns="18288" rIns="18288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核心业务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371600" y="1828800"/>
            <a:ext cx="2176272" cy="475488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景点检索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371600" y="2304288"/>
            <a:ext cx="2176272" cy="1426464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35608" y="25420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关键词检索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478024" y="25420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组合筛选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435608" y="28803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兴趣匹配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478024" y="28803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景点详情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35608" y="321868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门票位置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478024" y="321868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候选清单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685032" y="1828800"/>
            <a:ext cx="2176272" cy="475488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路线规划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85032" y="2304288"/>
            <a:ext cx="2176272" cy="1426464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40" y="25420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日期与天数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791456" y="25420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每日起终点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749040" y="28803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兴趣与预算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791456" y="28803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逐日构造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749040" y="321868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分日路线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791456" y="321868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生成行程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998464" y="1828800"/>
            <a:ext cx="2176272" cy="475488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  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约束检查与冲突解释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998464" y="2304288"/>
            <a:ext cx="2176272" cy="1426464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62472" y="237286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每日时限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104888" y="237286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开放时间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062472" y="271119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游玩等待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104888" y="271119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返程检查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062472" y="304952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景点不重复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104888" y="304952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门票预算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062472" y="338785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冲突定位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104888" y="338785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修改建议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311896" y="1828800"/>
            <a:ext cx="2176272" cy="475488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04  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行程调整与管理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311896" y="2304288"/>
            <a:ext cx="2176272" cy="1426464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75904" y="237286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分日行程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418320" y="237286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替换景点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8375904" y="271119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调整顺序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418320" y="271119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重新校验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8375904" y="304952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重算时间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418320" y="304952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保存行程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8375904" y="338785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历史行程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10625328" y="1828800"/>
            <a:ext cx="2176272" cy="475488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05  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地图与结果展示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0625328" y="2304288"/>
            <a:ext cx="2176272" cy="1426464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89336" y="237286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地图点位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1731752" y="237286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访问顺序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0689336" y="271119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到离时间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731752" y="271119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等待与游玩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0689336" y="304952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去返程时间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1731752" y="304952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门票汇总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0689336" y="338785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3EA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列表降级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777240" y="3840480"/>
            <a:ext cx="475488" cy="1901952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vert="eaVert" wrap="square" lIns="18288" rIns="18288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基础与管理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1371600" y="3840480"/>
            <a:ext cx="2176272" cy="475488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06  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用户与权限管理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371600" y="4315968"/>
            <a:ext cx="2176272" cy="1426464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35608" y="438454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注册与校验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2478024" y="438454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登录与认证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435608" y="472287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异常提醒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2478024" y="472287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个人资料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435608" y="506120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密码修改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478024" y="506120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账号管理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1435608" y="53995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权限分配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2478024" y="53995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操作日志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85032" y="3840480"/>
            <a:ext cx="2176272" cy="475488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07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景点数据管理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3685032" y="4315968"/>
            <a:ext cx="2176272" cy="1426464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749040" y="438454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景点资料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4791456" y="438454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开放时间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3749040" y="472287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游玩时长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4791456" y="472287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有效状态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3749040" y="506120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资料来源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4791456" y="506120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变更记录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3749040" y="53995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数据校验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4791456" y="53995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历史提示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5998464" y="3840480"/>
            <a:ext cx="2176272" cy="475488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08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后台数据维护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5998464" y="4315968"/>
            <a:ext cx="2176272" cy="1426464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062472" y="455371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基础分类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7104888" y="455371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数据字典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6062472" y="489204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参数配置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7104888" y="489204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修改日志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062472" y="523036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异常审计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7104888" y="523036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数据版本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8311896" y="3840480"/>
            <a:ext cx="2176272" cy="475488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09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规划统计分析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8311896" y="4315968"/>
            <a:ext cx="2176272" cy="1426464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375904" y="438454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运行记录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9418320" y="438454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来源区分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8375904" y="472287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筛选统计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9418320" y="472287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生成数量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8375904" y="506120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可行率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9418320" y="506120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失败原因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8375904" y="53995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成功均值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0625328" y="3840480"/>
            <a:ext cx="2176272" cy="475488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tIns="18288" rIns="45720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10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路线规划验证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10625328" y="4315968"/>
            <a:ext cx="2176272" cy="1426464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689336" y="438454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固定场景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11731752" y="4384548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路线生成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0689336" y="472287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约束检查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11731752" y="4722876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成功与失败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Rectangle 101"/>
          <p:cNvSpPr/>
          <p:nvPr/>
        </p:nvSpPr>
        <p:spPr>
          <a:xfrm>
            <a:off x="10689336" y="506120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失败明细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11731752" y="5061204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生成耗时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10689336" y="5399532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B9DAD7"/>
            </a:solidFill>
          </a:ln>
        </p:spPr>
        <p:txBody>
          <a:bodyPr wrap="none" lIns="9144" tIns="0" rIns="9144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数据版本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77240" y="5897880"/>
            <a:ext cx="1033272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上排</a:t>
            </a: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是用户直接使用的核心业务，</a:t>
            </a:r>
            <a:r>
              <a:rPr sz="1600" b="1">
                <a:solidFill>
                  <a:srgbClr val="15807C"/>
                </a:solidFill>
                <a:latin typeface="微软雅黑" panose="020B0503020204020204" charset="-122"/>
                <a:ea typeface="微软雅黑" panose="020B0503020204020204" charset="-122"/>
              </a:rPr>
              <a:t>下排</a:t>
            </a: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是基础数据与管理功能；功能点与开题报告图12一致（原图见附图12）。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核心业务功能（游客 / 普通用户使用）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28800"/>
            <a:ext cx="2514600" cy="896112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景点检索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91840" y="1828800"/>
            <a:ext cx="7818120" cy="896112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支持关键词查询和区域、类型、门票价格区间的组合筛选，结果按兴趣标签匹配程度排序；可查看开放时间、游玩时长、门票和位置，并加入候选清单。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77240" y="2816352"/>
            <a:ext cx="2514600" cy="896112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路线规划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291840" y="2816352"/>
            <a:ext cx="7818120" cy="896112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输入出行日期、1—3 日天数、预设出发点、每日起止时间、兴趣标签和门票预算，系统从候选景点中逐日生成行程，每天从出发点出发、晚上返回。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77240" y="3803904"/>
            <a:ext cx="2514600" cy="896112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约束检查与冲突解释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291840" y="3803904"/>
            <a:ext cx="7818120" cy="896112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逐日检查每日时限、开放时间、游玩与等待时间、返程时限、景点是否重复和门票预算；有冲突时定位到具体景点，并给出减少景点、调整时间等修改建议。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77240" y="4791456"/>
            <a:ext cx="2514600" cy="896112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04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行程调整与管理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291840" y="4791456"/>
            <a:ext cx="7818120" cy="896112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可替换景点、调整同日访问顺序，系统自动重算受影响日期的时间表并重新检查，通过后才保存；已保存的行程可查看、修改、删除，只能操作本人的行程。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77240" y="5779008"/>
            <a:ext cx="2514600" cy="896112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05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地图与结果展示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91840" y="5779008"/>
            <a:ext cx="7818120" cy="896112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用腾讯地图标注出发点和景点、显示访问顺序；列表汇总交通、等待、游玩、返程时间和门票费用；地图加载失败时，文字行程照常显示。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基础与管理功能（管理员为主）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28800"/>
            <a:ext cx="2514600" cy="896112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06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用户与权限管理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91840" y="1828800"/>
            <a:ext cx="7818120" cy="896112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注册、登录、修改密码和个人信息维护，注册登录时做输入校验，连续登录失败会提示并限制重试；管理员可管理账号、分配角色、禁用异常账号、查看操作日志。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77240" y="2816352"/>
            <a:ext cx="2514600" cy="896112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07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景点数据管理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291840" y="2816352"/>
            <a:ext cx="7818120" cy="896112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管理员新增、修改景点，维护门票、位置、类型、标签、开放时间和建议游玩时长，并记录资料来源；失效景点不再参与新路线，历史行程中的记录保留。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77240" y="3803904"/>
            <a:ext cx="2514600" cy="896112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08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后台数据维护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291840" y="3803904"/>
            <a:ext cx="7818120" cy="896112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维护景点标签、区域分类、预设出发点等基础数据和数据字典；可查询资料修改、规划异常和地图接口异常的日志，为前台提供统一的基础数据。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77240" y="4791456"/>
            <a:ext cx="2514600" cy="896112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09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规划统计分析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291840" y="4791456"/>
            <a:ext cx="7818120" cy="896112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按时间、行程天数和记录来源筛选，查看生成量、成功比例、失败原因以及成功行程的耗时与门票分布；输入错误、系统异常、未生成完整行程、生成成功四类分开统计。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77240" y="5779008"/>
            <a:ext cx="2514600" cy="896112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lIns="137160" tIns="27432" rIns="54864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10  </a:t>
            </a: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路线规划验证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91840" y="5779008"/>
            <a:ext cx="7818120" cy="896112"/>
          </a:xfrm>
          <a:prstGeom prst="rect">
            <a:avLst/>
          </a:prstGeom>
          <a:solidFill>
            <a:srgbClr val="E8F4F3"/>
          </a:solidFill>
          <a:ln>
            <a:noFill/>
          </a:ln>
        </p:spPr>
        <p:txBody>
          <a:bodyPr wrap="square" lIns="182880" tIns="36576" rIns="137160" bIns="36576" rtlCol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管理员配置一日、二日、三日的固定场景，批量运行路线生成，逐项检查开放时间、返程时限、门票预算和景点重复，记录成功或失败原因、景点数量与生成耗时。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核心业务流程：从输入条件到保存行程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sp>
        <p:nvSpPr>
          <p:cNvPr id="13" name="Pentagon 12"/>
          <p:cNvSpPr/>
          <p:nvPr/>
        </p:nvSpPr>
        <p:spPr>
          <a:xfrm>
            <a:off x="777240" y="1828800"/>
            <a:ext cx="2103120" cy="1005840"/>
          </a:xfrm>
          <a:prstGeom prst="homePlate">
            <a:avLst>
              <a:gd name="adj" fmla="val 26000"/>
            </a:avLst>
          </a:prstGeom>
          <a:solidFill>
            <a:srgbClr val="7FA3D6"/>
          </a:solidFill>
          <a:ln>
            <a:noFill/>
          </a:ln>
        </p:spPr>
        <p:txBody>
          <a:bodyPr wrap="square" tIns="18288" rIns="54864" bIns="18288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检索景点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加入候选清单</a:t>
            </a:r>
            <a:endParaRPr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Chevron 13"/>
          <p:cNvSpPr/>
          <p:nvPr/>
        </p:nvSpPr>
        <p:spPr>
          <a:xfrm>
            <a:off x="2761488" y="1828800"/>
            <a:ext cx="2103120" cy="1005840"/>
          </a:xfrm>
          <a:prstGeom prst="chevron">
            <a:avLst>
              <a:gd name="adj" fmla="val 26000"/>
            </a:avLst>
          </a:prstGeom>
          <a:solidFill>
            <a:srgbClr val="5F8BC9"/>
          </a:solidFill>
          <a:ln>
            <a:noFill/>
          </a:ln>
        </p:spPr>
        <p:txBody>
          <a:bodyPr wrap="square" tIns="18288" rIns="54864" bIns="18288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输入条件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日期·天数·预算</a:t>
            </a:r>
            <a:endParaRPr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Chevron 14"/>
          <p:cNvSpPr/>
          <p:nvPr/>
        </p:nvSpPr>
        <p:spPr>
          <a:xfrm>
            <a:off x="4745736" y="1828800"/>
            <a:ext cx="2103120" cy="1005840"/>
          </a:xfrm>
          <a:prstGeom prst="chevron">
            <a:avLst>
              <a:gd name="adj" fmla="val 26000"/>
            </a:avLst>
          </a:prstGeom>
          <a:solidFill>
            <a:srgbClr val="3F73BC"/>
          </a:solidFill>
          <a:ln>
            <a:noFill/>
          </a:ln>
        </p:spPr>
        <p:txBody>
          <a:bodyPr wrap="square" tIns="18288" rIns="54864" bIns="18288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生成行程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按天排好景点</a:t>
            </a:r>
            <a:endParaRPr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Chevron 15"/>
          <p:cNvSpPr/>
          <p:nvPr/>
        </p:nvSpPr>
        <p:spPr>
          <a:xfrm>
            <a:off x="6729984" y="1828800"/>
            <a:ext cx="2103120" cy="1005840"/>
          </a:xfrm>
          <a:prstGeom prst="chevron">
            <a:avLst>
              <a:gd name="adj" fmla="val 26000"/>
            </a:avLst>
          </a:prstGeom>
          <a:solidFill>
            <a:srgbClr val="2160AF"/>
          </a:solidFill>
          <a:ln>
            <a:noFill/>
          </a:ln>
        </p:spPr>
        <p:txBody>
          <a:bodyPr wrap="square" tIns="18288" rIns="54864" bIns="18288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④ 查看结果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时间表与地图</a:t>
            </a:r>
            <a:endParaRPr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8714232" y="1828800"/>
            <a:ext cx="2103120" cy="1005840"/>
          </a:xfrm>
          <a:prstGeom prst="chevron">
            <a:avLst>
              <a:gd name="adj" fmla="val 26000"/>
            </a:avLst>
          </a:prstGeom>
          <a:solidFill>
            <a:srgbClr val="0F55A8"/>
          </a:solidFill>
          <a:ln>
            <a:noFill/>
          </a:ln>
        </p:spPr>
        <p:txBody>
          <a:bodyPr wrap="square" tIns="18288" rIns="54864" bIns="18288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⑤ 调整行程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替换·调序</a:t>
            </a:r>
            <a:endParaRPr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Chevron 17"/>
          <p:cNvSpPr/>
          <p:nvPr/>
        </p:nvSpPr>
        <p:spPr>
          <a:xfrm>
            <a:off x="10698480" y="1828800"/>
            <a:ext cx="2103120" cy="1005840"/>
          </a:xfrm>
          <a:prstGeom prst="chevron">
            <a:avLst>
              <a:gd name="adj" fmla="val 26000"/>
            </a:avLst>
          </a:prstGeom>
          <a:solidFill>
            <a:srgbClr val="003E9B"/>
          </a:solidFill>
          <a:ln>
            <a:noFill/>
          </a:ln>
        </p:spPr>
        <p:txBody>
          <a:bodyPr wrap="square" tIns="18288" rIns="54864" bIns="18288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⑥ 重新检查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通过后保存</a:t>
            </a:r>
            <a:endParaRPr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2944368"/>
            <a:ext cx="1197864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第⑥步检查不通过时：</a:t>
            </a: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系统指出冲突发生在哪个景点、超出多少时间或预算，用户修改后再次检查，通过才保存。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77240" y="3520440"/>
            <a:ext cx="10332720" cy="3246120"/>
          </a:xfrm>
          <a:prstGeom prst="rect">
            <a:avLst/>
          </a:prstGeom>
          <a:solidFill>
            <a:srgbClr val="F7F9FC"/>
          </a:solidFill>
          <a:ln w="12700">
            <a:solidFill>
              <a:srgbClr val="C5D3E8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611880"/>
            <a:ext cx="996696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示意算例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（虚拟数据，只用来说明系统怎么算时间）　全程共 220 分钟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188720" y="4526280"/>
            <a:ext cx="1296785" cy="548640"/>
          </a:xfrm>
          <a:prstGeom prst="rect">
            <a:avLst/>
          </a:prstGeom>
          <a:solidFill>
            <a:srgbClr val="9DB3D3"/>
          </a:solidFill>
          <a:ln w="12700">
            <a:solidFill>
              <a:srgbClr val="FFFFFF"/>
            </a:solidFill>
          </a:ln>
        </p:spPr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车程30分</a:t>
            </a:r>
            <a:endParaRPr sz="13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485505" y="4526280"/>
            <a:ext cx="1296785" cy="54864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等待30分</a:t>
            </a:r>
            <a:endParaRPr sz="13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782291" y="4526280"/>
            <a:ext cx="2593571" cy="548640"/>
          </a:xfrm>
          <a:prstGeom prst="rect">
            <a:avLst/>
          </a:prstGeom>
          <a:solidFill>
            <a:srgbClr val="004EA2"/>
          </a:solidFill>
          <a:ln w="12700">
            <a:solidFill>
              <a:srgbClr val="FFFFFF"/>
            </a:solidFill>
          </a:ln>
        </p:spPr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游玩景点A 60分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375862" y="4526280"/>
            <a:ext cx="864524" cy="548640"/>
          </a:xfrm>
          <a:prstGeom prst="rect">
            <a:avLst/>
          </a:prstGeom>
          <a:solidFill>
            <a:srgbClr val="9DB3D3"/>
          </a:solidFill>
          <a:ln w="12700">
            <a:solidFill>
              <a:srgbClr val="FFFFFF"/>
            </a:solidFill>
          </a:ln>
        </p:spPr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车程20分</a:t>
            </a:r>
            <a:endParaRPr sz="13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240385" y="4526280"/>
            <a:ext cx="1729047" cy="548640"/>
          </a:xfrm>
          <a:prstGeom prst="rect">
            <a:avLst/>
          </a:prstGeom>
          <a:solidFill>
            <a:srgbClr val="2F6DB5"/>
          </a:solidFill>
          <a:ln w="12700">
            <a:solidFill>
              <a:srgbClr val="FFFFFF"/>
            </a:solidFill>
          </a:ln>
        </p:spPr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游玩景点B 40分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969433" y="4526280"/>
            <a:ext cx="1729047" cy="548640"/>
          </a:xfrm>
          <a:prstGeom prst="rect">
            <a:avLst/>
          </a:prstGeom>
          <a:solidFill>
            <a:srgbClr val="9DB3D3"/>
          </a:solidFill>
          <a:ln w="12700">
            <a:solidFill>
              <a:srgbClr val="FFFFFF"/>
            </a:solidFill>
          </a:ln>
        </p:spPr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返程40分</a:t>
            </a:r>
            <a:endParaRPr sz="13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4370832"/>
            <a:ext cx="0" cy="155448"/>
          </a:xfrm>
          <a:prstGeom prst="line">
            <a:avLst/>
          </a:prstGeom>
          <a:ln w="12700">
            <a:solidFill>
              <a:srgbClr val="595959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1005840" y="4069080"/>
            <a:ext cx="1463040" cy="3017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9:00 出发</a:t>
            </a:r>
            <a:endParaRPr sz="13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2485505" y="4370832"/>
            <a:ext cx="0" cy="155448"/>
          </a:xfrm>
          <a:prstGeom prst="line">
            <a:avLst/>
          </a:prstGeom>
          <a:ln w="12700">
            <a:solidFill>
              <a:srgbClr val="595959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1753985" y="4069080"/>
            <a:ext cx="1463040" cy="3017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9:30 到A</a:t>
            </a:r>
            <a:endParaRPr sz="13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3782291" y="4370832"/>
            <a:ext cx="0" cy="155448"/>
          </a:xfrm>
          <a:prstGeom prst="line">
            <a:avLst/>
          </a:prstGeom>
          <a:ln w="12700">
            <a:solidFill>
              <a:srgbClr val="595959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3050771" y="4069080"/>
            <a:ext cx="1463040" cy="3017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10:00 A开放</a:t>
            </a:r>
            <a:endParaRPr sz="13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6375862" y="4370832"/>
            <a:ext cx="0" cy="155448"/>
          </a:xfrm>
          <a:prstGeom prst="line">
            <a:avLst/>
          </a:prstGeom>
          <a:ln w="12700">
            <a:solidFill>
              <a:srgbClr val="595959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5644342" y="4069080"/>
            <a:ext cx="1463040" cy="3017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11:00</a:t>
            </a:r>
            <a:endParaRPr sz="13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7240385" y="4370832"/>
            <a:ext cx="0" cy="155448"/>
          </a:xfrm>
          <a:prstGeom prst="line">
            <a:avLst/>
          </a:prstGeom>
          <a:ln w="12700">
            <a:solidFill>
              <a:srgbClr val="595959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6508865" y="4069080"/>
            <a:ext cx="1463040" cy="3017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11:20 到B</a:t>
            </a:r>
            <a:endParaRPr sz="13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8969433" y="4370832"/>
            <a:ext cx="0" cy="155448"/>
          </a:xfrm>
          <a:prstGeom prst="line">
            <a:avLst/>
          </a:prstGeom>
          <a:ln w="12700">
            <a:solidFill>
              <a:srgbClr val="595959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8237913" y="4069080"/>
            <a:ext cx="1463040" cy="3017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12:00</a:t>
            </a:r>
            <a:endParaRPr sz="13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10698480" y="4370832"/>
            <a:ext cx="0" cy="155448"/>
          </a:xfrm>
          <a:prstGeom prst="line">
            <a:avLst/>
          </a:prstGeom>
          <a:ln w="12700">
            <a:solidFill>
              <a:srgbClr val="595959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9052560" y="4069080"/>
            <a:ext cx="1828800" cy="3017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12:40 回到出发点</a:t>
            </a:r>
            <a:endParaRPr sz="13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60120" y="5257800"/>
            <a:ext cx="996696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系统逐项检查：</a:t>
            </a:r>
            <a:endParaRPr sz="16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097280" y="5623560"/>
            <a:ext cx="48463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① 景点 A、B 能否在闭馆前玩完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080760" y="5623560"/>
            <a:ext cx="48463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② 12:40 返回是否早于当天结束时间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97280" y="6007608"/>
            <a:ext cx="48463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③ 门票合计是否超出预算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080760" y="6007608"/>
            <a:ext cx="48463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④ 跨日景点是否重复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60120" y="6382512"/>
            <a:ext cx="9966960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任何一项不满足，就不算成功行程，而是提示冲突原因。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系统总体架构（B/S 架构，Django 单体应用）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28800"/>
            <a:ext cx="1143000" cy="548640"/>
          </a:xfrm>
          <a:prstGeom prst="rect">
            <a:avLst/>
          </a:prstGeom>
          <a:solidFill>
            <a:srgbClr val="6C8EBF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用户层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057400" y="1828800"/>
            <a:ext cx="2865120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1E94D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E94D4"/>
                </a:solidFill>
                <a:latin typeface="微软雅黑" panose="020B0503020204020204" charset="-122"/>
                <a:ea typeface="微软雅黑" panose="020B0503020204020204" charset="-122"/>
              </a:rPr>
              <a:t>游客（浏览器访问）</a:t>
            </a:r>
            <a:endParaRPr sz="1500" b="1">
              <a:solidFill>
                <a:srgbClr val="1E94D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51120" y="1828800"/>
            <a:ext cx="2865120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EA2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普通用户（浏览器访问）</a:t>
            </a:r>
            <a:endParaRPr sz="15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244840" y="1828800"/>
            <a:ext cx="2865120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15807C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5807C"/>
                </a:solidFill>
                <a:latin typeface="微软雅黑" panose="020B0503020204020204" charset="-122"/>
                <a:ea typeface="微软雅黑" panose="020B0503020204020204" charset="-122"/>
              </a:rPr>
              <a:t>管理员（浏览器访问）</a:t>
            </a:r>
            <a:endParaRPr sz="1500" b="1">
              <a:solidFill>
                <a:srgbClr val="1580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77240" y="2606040"/>
            <a:ext cx="1143000" cy="73152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浏览器</a:t>
            </a:r>
            <a:endParaRPr sz="13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57400" y="2606040"/>
            <a:ext cx="3474720" cy="731520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Django 模板页面</a:t>
            </a:r>
            <a:endParaRPr sz="15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检索 / 规划 / 我的行程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715000" y="2606040"/>
            <a:ext cx="2377440" cy="731520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Bootstrap</a:t>
            </a:r>
            <a:endParaRPr sz="15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页面样式与表单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275320" y="2606040"/>
            <a:ext cx="2834640" cy="731520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腾讯地图 JS API</a:t>
            </a:r>
            <a:endParaRPr sz="15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点位、访问顺序展示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77240" y="3566160"/>
            <a:ext cx="1143000" cy="1828800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Django</a:t>
            </a:r>
            <a:endParaRPr sz="13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057400" y="3566160"/>
            <a:ext cx="90525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C5D3E8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67128" y="3657600"/>
            <a:ext cx="18288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4EA2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URL 路由</a:t>
            </a:r>
            <a:endParaRPr sz="14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urls.py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197096" y="3657600"/>
            <a:ext cx="18288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4EA2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视图</a:t>
            </a:r>
            <a:endParaRPr sz="14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views.py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27064" y="3657600"/>
            <a:ext cx="219456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4EA2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认证与权限</a:t>
            </a:r>
            <a:endParaRPr sz="14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Django Auth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622792" y="3657600"/>
            <a:ext cx="237744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4EA2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后台管理</a:t>
            </a:r>
            <a:endParaRPr sz="14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Django Admin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4014216" y="3986784"/>
            <a:ext cx="164592" cy="0"/>
          </a:xfrm>
          <a:prstGeom prst="line">
            <a:avLst/>
          </a:prstGeom>
          <a:ln w="19050">
            <a:solidFill>
              <a:srgbClr val="004EA2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>
            <a:off x="6044184" y="3986784"/>
            <a:ext cx="164592" cy="0"/>
          </a:xfrm>
          <a:prstGeom prst="line">
            <a:avLst/>
          </a:prstGeom>
          <a:ln w="19050">
            <a:solidFill>
              <a:srgbClr val="004EA2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2167128" y="438912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业务服务（独立的 Python 模块）</a:t>
            </a:r>
            <a:endParaRPr sz="1300" b="1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167128" y="4690872"/>
            <a:ext cx="2084832" cy="594360"/>
          </a:xfrm>
          <a:prstGeom prst="rect">
            <a:avLst/>
          </a:prstGeom>
          <a:solidFill>
            <a:srgbClr val="2F6DB5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景点检索服务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416552" y="4690872"/>
            <a:ext cx="2084832" cy="59436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路线生成服务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665976" y="4690872"/>
            <a:ext cx="2084832" cy="59436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约束检查服务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915400" y="4690872"/>
            <a:ext cx="2084832" cy="594360"/>
          </a:xfrm>
          <a:prstGeom prst="rect">
            <a:avLst/>
          </a:prstGeom>
          <a:solidFill>
            <a:srgbClr val="2F6DB5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统计服务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77240" y="5623560"/>
            <a:ext cx="1143000" cy="658368"/>
          </a:xfrm>
          <a:prstGeom prst="rect">
            <a:avLst/>
          </a:prstGeom>
          <a:solidFill>
            <a:srgbClr val="2F6DB5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数据层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057400" y="5623560"/>
            <a:ext cx="3017520" cy="658368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Django ORM</a:t>
            </a:r>
            <a:endParaRPr sz="15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models.py 模型类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5093208" y="5952744"/>
            <a:ext cx="329184" cy="0"/>
          </a:xfrm>
          <a:prstGeom prst="line">
            <a:avLst/>
          </a:prstGeom>
          <a:ln w="19050">
            <a:solidFill>
              <a:srgbClr val="004EA2"/>
            </a:solidFill>
            <a:headEnd type="triangle" w="med" len="med"/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5440680" y="5623560"/>
            <a:ext cx="5669280" cy="658368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SQLite 数据库</a:t>
            </a:r>
            <a:endParaRPr sz="1500" b="1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景点 · 出发点 · 交通路段 · 行程 · 规划记录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6583680" y="2377440"/>
            <a:ext cx="0" cy="228600"/>
          </a:xfrm>
          <a:prstGeom prst="line">
            <a:avLst/>
          </a:prstGeom>
          <a:ln w="25400">
            <a:solidFill>
              <a:srgbClr val="003E9B"/>
            </a:solidFill>
            <a:headEnd type="triangle" w="med" len="med"/>
            <a:tailEnd type="triangle" w="med" len="med"/>
          </a:ln>
        </p:spPr>
      </p:cxnSp>
      <p:cxnSp>
        <p:nvCxnSpPr>
          <p:cNvPr id="39" name="Connector 38"/>
          <p:cNvCxnSpPr/>
          <p:nvPr/>
        </p:nvCxnSpPr>
        <p:spPr>
          <a:xfrm>
            <a:off x="6583680" y="3337560"/>
            <a:ext cx="0" cy="228600"/>
          </a:xfrm>
          <a:prstGeom prst="line">
            <a:avLst/>
          </a:prstGeom>
          <a:ln w="25400">
            <a:solidFill>
              <a:srgbClr val="003E9B"/>
            </a:solidFill>
            <a:headEnd type="triangle" w="med" len="med"/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>
            <a:off x="3566160" y="5394960"/>
            <a:ext cx="0" cy="228600"/>
          </a:xfrm>
          <a:prstGeom prst="line">
            <a:avLst/>
          </a:prstGeom>
          <a:ln w="25400">
            <a:solidFill>
              <a:srgbClr val="003E9B"/>
            </a:solidFill>
            <a:headEnd type="triangle" w="med" len="med"/>
            <a:tailEnd type="triangle" w="med" len="med"/>
          </a:ln>
        </p:spPr>
      </p:cxnSp>
      <p:sp>
        <p:nvSpPr>
          <p:cNvPr id="41" name="Rectangle 40"/>
          <p:cNvSpPr/>
          <p:nvPr/>
        </p:nvSpPr>
        <p:spPr>
          <a:xfrm>
            <a:off x="11384280" y="2606040"/>
            <a:ext cx="14630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46C0A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腾讯地图服务</a:t>
            </a:r>
            <a:endParaRPr sz="1300" b="1">
              <a:solidFill>
                <a:srgbClr val="E46C0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（外部）</a:t>
            </a:r>
            <a:endParaRPr sz="1200" b="0">
              <a:solidFill>
                <a:srgbClr val="E46C0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11128248" y="2971800"/>
            <a:ext cx="237744" cy="0"/>
          </a:xfrm>
          <a:prstGeom prst="line">
            <a:avLst/>
          </a:prstGeom>
          <a:ln w="19050">
            <a:solidFill>
              <a:srgbClr val="E46C0A"/>
            </a:solidFill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>
            <a:off x="12710160" y="3355848"/>
            <a:ext cx="0" cy="2148840"/>
          </a:xfrm>
          <a:prstGeom prst="line">
            <a:avLst/>
          </a:prstGeom>
          <a:ln w="15875">
            <a:solidFill>
              <a:srgbClr val="E46C0A"/>
            </a:solidFill>
            <a:prstDash val="dash"/>
          </a:ln>
        </p:spPr>
      </p:cxnSp>
      <p:cxnSp>
        <p:nvCxnSpPr>
          <p:cNvPr id="44" name="Connector 43"/>
          <p:cNvCxnSpPr/>
          <p:nvPr/>
        </p:nvCxnSpPr>
        <p:spPr>
          <a:xfrm flipH="1">
            <a:off x="10424160" y="5504688"/>
            <a:ext cx="2286000" cy="0"/>
          </a:xfrm>
          <a:prstGeom prst="line">
            <a:avLst/>
          </a:prstGeom>
          <a:ln w="15875">
            <a:solidFill>
              <a:srgbClr val="E46C0A"/>
            </a:solidFill>
            <a:prstDash val="dash"/>
          </a:ln>
        </p:spPr>
      </p:cxnSp>
      <p:cxnSp>
        <p:nvCxnSpPr>
          <p:cNvPr id="45" name="Connector 44"/>
          <p:cNvCxnSpPr/>
          <p:nvPr/>
        </p:nvCxnSpPr>
        <p:spPr>
          <a:xfrm>
            <a:off x="10424160" y="5504688"/>
            <a:ext cx="0" cy="109728"/>
          </a:xfrm>
          <a:prstGeom prst="line">
            <a:avLst/>
          </a:prstGeom>
          <a:ln w="15875">
            <a:solidFill>
              <a:srgbClr val="E46C0A"/>
            </a:solidFill>
            <a:prstDash val="dash"/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11228832" y="3794760"/>
            <a:ext cx="13716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路径规划服务</a:t>
            </a:r>
            <a:endParaRPr sz="1250" b="0">
              <a:solidFill>
                <a:srgbClr val="E46C0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获取驾车耗时</a:t>
            </a:r>
            <a:endParaRPr sz="1250" b="0">
              <a:solidFill>
                <a:srgbClr val="E46C0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↓</a:t>
            </a:r>
            <a:endParaRPr sz="1250" b="0">
              <a:solidFill>
                <a:srgbClr val="E46C0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存为交通矩阵</a:t>
            </a:r>
            <a:endParaRPr sz="1250" b="0">
              <a:solidFill>
                <a:srgbClr val="E46C0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（离线存档）</a:t>
            </a:r>
            <a:endParaRPr sz="1250" b="0">
              <a:solidFill>
                <a:srgbClr val="E46C0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77240" y="6400800"/>
            <a:ext cx="10332720" cy="96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marL="201295" indent="-201295">
              <a:lnSpc>
                <a:spcPct val="110000"/>
              </a:lnSpc>
              <a:spcAft>
                <a:spcPts val="2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45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前端页面和后端逻辑在同一个 Django 工程中（MVT 模式），不是前后端分离；路线生成、约束检查写成独立的 Python 服务模块，可单独测试。</a:t>
            </a:r>
            <a:endParaRPr sz="145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0000"/>
              </a:lnSpc>
              <a:spcAft>
                <a:spcPts val="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45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地图只负责展示，时间和门票计算都在后端完成；地图加载失败时文字行程照常显示。</a:t>
            </a:r>
            <a:endParaRPr sz="145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前端与后端分工 · 一次请求怎样处理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28800"/>
            <a:ext cx="1325880" cy="164592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sz="1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浏览器</a:t>
            </a:r>
            <a:endParaRPr sz="13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103120" y="1828800"/>
            <a:ext cx="4572000" cy="16459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1883664"/>
            <a:ext cx="4434840" cy="1554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marL="201295" indent="-201295">
              <a:lnSpc>
                <a:spcPct val="108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Django 模板 + Bootstrap 页面：景点检索、条件输入、分日行程、我的行程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08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表单提交与结果展示，输入有误时给出提示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08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腾讯地图 JS API 显示出发点、景点和访问顺序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7240" y="3611880"/>
            <a:ext cx="1325880" cy="1645920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sz="1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Django</a:t>
            </a:r>
            <a:endParaRPr sz="13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103120" y="3611880"/>
            <a:ext cx="4572000" cy="16459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666744"/>
            <a:ext cx="4434840" cy="1554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marL="201295" indent="-201295">
              <a:lnSpc>
                <a:spcPct val="108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接收请求，检查登录状态和权限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08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调用景点检索、路线生成、约束检查、统计等服务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08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通过 ORM 读写数据库，用事务保存行程，再渲染页面返回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903720" y="1828800"/>
            <a:ext cx="5897880" cy="457200"/>
          </a:xfrm>
          <a:prstGeom prst="rect">
            <a:avLst/>
          </a:prstGeom>
          <a:solidFill>
            <a:srgbClr val="15807C"/>
          </a:solidFill>
          <a:ln>
            <a:noFill/>
          </a:ln>
        </p:spPr>
        <p:txBody>
          <a:bodyPr wrap="square" lIns="137160" tIns="18288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Django 项目结构（拟）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903720" y="2286000"/>
            <a:ext cx="5897880" cy="2971800"/>
          </a:xfrm>
          <a:prstGeom prst="rect">
            <a:avLst/>
          </a:prstGeom>
          <a:solidFill>
            <a:srgbClr val="F5F8F8"/>
          </a:solidFill>
          <a:ln w="12700">
            <a:solidFill>
              <a:srgbClr val="CFE3E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2395728"/>
            <a:ext cx="5715000" cy="2834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003E9B"/>
                </a:solidFill>
                <a:latin typeface="Consolas" panose="020B0609020204030204"/>
                <a:ea typeface="微软雅黑" panose="020B0503020204020204" charset="-122"/>
              </a:rPr>
              <a:t>travel_planner/</a:t>
            </a:r>
            <a:r>
              <a:rPr sz="14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  Django 项目</a:t>
            </a:r>
            <a:endParaRPr sz="14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5807C"/>
                </a:solidFill>
                <a:latin typeface="Consolas" panose="020B0609020204030204"/>
                <a:ea typeface="微软雅黑" panose="020B0503020204020204" charset="-122"/>
              </a:rPr>
              <a:t>├─ accounts/  </a:t>
            </a:r>
            <a:r>
              <a:rPr sz="14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  用户与权限（复用 Django Auth）</a:t>
            </a:r>
            <a:endParaRPr sz="14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5807C"/>
                </a:solidFill>
                <a:latin typeface="Consolas" panose="020B0609020204030204"/>
                <a:ea typeface="微软雅黑" panose="020B0503020204020204" charset="-122"/>
              </a:rPr>
              <a:t>├─ spots/     </a:t>
            </a:r>
            <a:r>
              <a:rPr sz="14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  景点数据管理与检索</a:t>
            </a:r>
            <a:endParaRPr sz="14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5807C"/>
                </a:solidFill>
                <a:latin typeface="Consolas" panose="020B0609020204030204"/>
                <a:ea typeface="微软雅黑" panose="020B0503020204020204" charset="-122"/>
              </a:rPr>
              <a:t>├─ planner/   </a:t>
            </a:r>
            <a:r>
              <a:rPr sz="14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  路线生成、约束检查（独立模块）</a:t>
            </a:r>
            <a:endParaRPr sz="14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5807C"/>
                </a:solidFill>
                <a:latin typeface="Consolas" panose="020B0609020204030204"/>
                <a:ea typeface="微软雅黑" panose="020B0503020204020204" charset="-122"/>
              </a:rPr>
              <a:t>├─ trips/     </a:t>
            </a:r>
            <a:r>
              <a:rPr sz="14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  行程调整与管理</a:t>
            </a:r>
            <a:endParaRPr sz="14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5807C"/>
                </a:solidFill>
                <a:latin typeface="Consolas" panose="020B0609020204030204"/>
                <a:ea typeface="微软雅黑" panose="020B0503020204020204" charset="-122"/>
              </a:rPr>
              <a:t>├─ stats/     </a:t>
            </a:r>
            <a:r>
              <a:rPr sz="14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  规划统计与路线规划验证</a:t>
            </a:r>
            <a:endParaRPr sz="14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5807C"/>
                </a:solidFill>
                <a:latin typeface="Consolas" panose="020B0609020204030204"/>
                <a:ea typeface="微软雅黑" panose="020B0503020204020204" charset="-122"/>
              </a:rPr>
              <a:t>├─ templates/ </a:t>
            </a:r>
            <a:r>
              <a:rPr sz="14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  页面模板（Bootstrap）</a:t>
            </a:r>
            <a:endParaRPr sz="14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5807C"/>
                </a:solidFill>
                <a:latin typeface="Consolas" panose="020B0609020204030204"/>
                <a:ea typeface="微软雅黑" panose="020B0503020204020204" charset="-122"/>
              </a:rPr>
              <a:t>└─ static/    </a:t>
            </a:r>
            <a:r>
              <a:rPr sz="14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  CSS / JS（腾讯地图脚本）</a:t>
            </a:r>
            <a:endParaRPr sz="14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77240" y="5532120"/>
            <a:ext cx="1289304" cy="868680"/>
          </a:xfrm>
          <a:prstGeom prst="rect">
            <a:avLst/>
          </a:prstGeom>
          <a:solidFill>
            <a:srgbClr val="6C8EBF"/>
          </a:solidFill>
          <a:ln>
            <a:noFill/>
          </a:ln>
        </p:spPr>
        <p:txBody>
          <a:bodyPr wrap="square" lIns="27432" tIns="18288" rIns="27432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浏览器提交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「生成行程」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084832" y="5961888"/>
            <a:ext cx="173736" cy="0"/>
          </a:xfrm>
          <a:prstGeom prst="line">
            <a:avLst/>
          </a:prstGeom>
          <a:ln w="22225">
            <a:solidFill>
              <a:srgbClr val="003E9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2276856" y="5532120"/>
            <a:ext cx="1289304" cy="86868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27432" tIns="18288" rIns="27432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urls.py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路由分发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3584448" y="5961888"/>
            <a:ext cx="173736" cy="0"/>
          </a:xfrm>
          <a:prstGeom prst="line">
            <a:avLst/>
          </a:prstGeom>
          <a:ln w="22225">
            <a:solidFill>
              <a:srgbClr val="003E9B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3776472" y="5532120"/>
            <a:ext cx="1289304" cy="86868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27432" tIns="18288" rIns="27432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views.py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校验登录与参数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5084064" y="5961888"/>
            <a:ext cx="173736" cy="0"/>
          </a:xfrm>
          <a:prstGeom prst="line">
            <a:avLst/>
          </a:prstGeom>
          <a:ln w="22225">
            <a:solidFill>
              <a:srgbClr val="003E9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5276088" y="5532120"/>
            <a:ext cx="1289304" cy="86868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27432" tIns="18288" rIns="27432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services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生成行程并检查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6583680" y="5961888"/>
            <a:ext cx="173736" cy="0"/>
          </a:xfrm>
          <a:prstGeom prst="line">
            <a:avLst/>
          </a:prstGeom>
          <a:ln w="22225">
            <a:solidFill>
              <a:srgbClr val="003E9B"/>
            </a:solidFill>
            <a:tailEnd type="triangle" w="med" len="med"/>
          </a:ln>
        </p:spPr>
      </p:cxnSp>
      <p:sp>
        <p:nvSpPr>
          <p:cNvPr id="30" name="Rectangle 29"/>
          <p:cNvSpPr/>
          <p:nvPr/>
        </p:nvSpPr>
        <p:spPr>
          <a:xfrm>
            <a:off x="6775704" y="5532120"/>
            <a:ext cx="1289304" cy="86868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27432" tIns="18288" rIns="27432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models.py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ORM 读写数据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8083296" y="5961888"/>
            <a:ext cx="173736" cy="0"/>
          </a:xfrm>
          <a:prstGeom prst="line">
            <a:avLst/>
          </a:prstGeom>
          <a:ln w="22225">
            <a:solidFill>
              <a:srgbClr val="003E9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8275320" y="5532120"/>
            <a:ext cx="1289304" cy="86868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27432" tIns="18288" rIns="27432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templates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模板渲染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9582912" y="5961888"/>
            <a:ext cx="173736" cy="0"/>
          </a:xfrm>
          <a:prstGeom prst="line">
            <a:avLst/>
          </a:prstGeom>
          <a:ln w="22225">
            <a:solidFill>
              <a:srgbClr val="003E9B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9774936" y="5532120"/>
            <a:ext cx="1289304" cy="868680"/>
          </a:xfrm>
          <a:prstGeom prst="rect">
            <a:avLst/>
          </a:prstGeom>
          <a:solidFill>
            <a:srgbClr val="6C8EBF"/>
          </a:solidFill>
          <a:ln>
            <a:noFill/>
          </a:ln>
        </p:spPr>
        <p:txBody>
          <a:bodyPr wrap="square" lIns="27432" tIns="18288" rIns="27432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浏览器显示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行程与地图</a:t>
            </a:r>
            <a:endParaRPr sz="125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77240" y="6537960"/>
            <a:ext cx="103327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这就是 Django 的 MVT（模型—视图—模板）模式：</a:t>
            </a:r>
            <a:r>
              <a:rPr sz="16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一个工程里同时完成前端页面和后端逻辑。</a:t>
            </a:r>
            <a:endParaRPr sz="16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技术选型与 Python / Django 特色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828800"/>
          <a:ext cx="12024360" cy="39136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2697480"/>
                <a:gridCol w="2971800"/>
                <a:gridCol w="5166360"/>
              </a:tblGrid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类别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技术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在本系统中的作用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Python / Django 特色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4EA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开发语言</a:t>
                      </a:r>
                      <a:endParaRPr sz="1400" b="0">
                        <a:solidFill>
                          <a:srgbClr val="004EA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Python 3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编写后端业务和路线生成模块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语法简洁、第三方库丰富；用 datetime 按分钟计算时间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4EA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Web 框架</a:t>
                      </a:r>
                      <a:endParaRPr sz="1400" b="0">
                        <a:solidFill>
                          <a:srgbClr val="004EA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Django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组织整个项目（MVT 模式）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“自带电池”：认证、后台、ORM、模板开箱即用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4EA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认证权限</a:t>
                      </a:r>
                      <a:endParaRPr sz="1400" b="0">
                        <a:solidFill>
                          <a:srgbClr val="004EA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Django Auth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注册、登录、改密码、角色权限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密码自动哈希保存，登录会话和权限检查现成可用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4EA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后台管理</a:t>
                      </a:r>
                      <a:endParaRPr sz="1400" b="0">
                        <a:solidFill>
                          <a:srgbClr val="004EA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Django Admin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维护景点、标签、出发点等数据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注册模型即自动生成增删改查后台，少写重复页面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4EA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数据访问</a:t>
                      </a:r>
                      <a:endParaRPr sz="1400" b="0">
                        <a:solidFill>
                          <a:srgbClr val="004EA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Django ORM + SQLite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保存景点、行程、规划记录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Python 类即数据表，迁移命令自动建表；事务保证一致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4EA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前端页面</a:t>
                      </a:r>
                      <a:endParaRPr sz="1400" b="0">
                        <a:solidFill>
                          <a:srgbClr val="004EA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Django 模板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检索、规划、行程等页面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模板继承复用页面布局，配合 Bootstrap 快速完成样式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4EA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地图展示</a:t>
                      </a:r>
                      <a:endParaRPr sz="1400" b="0">
                        <a:solidFill>
                          <a:srgbClr val="004EA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腾讯地图 JS API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标注出发点、景点与访问顺序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只做展示，加载失败时降级为文字行程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4EA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测试管理</a:t>
                      </a:r>
                      <a:endParaRPr sz="1400" b="0">
                        <a:solidFill>
                          <a:srgbClr val="004EA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Django 测试框架 + Git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功能测试、越权测试、场景验证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路线模块是独立 Python 模块，可脱离页面单独测试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5989320"/>
            <a:ext cx="73152" cy="731520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5989320"/>
            <a:ext cx="10213848" cy="7315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rIns="137160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50" b="1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Python 特色体现：用 Django 现成的认证、后台和 ORM 快速搭好基础功能，把精力放在路线生成、约束检查和行程调整等核心业务上。</a:t>
            </a:r>
            <a:endParaRPr sz="1650" b="1">
              <a:solidFill>
                <a:srgbClr val="003E9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系统接口设计：页面接口 · 内部接口 · 外部接口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828800"/>
          <a:ext cx="12024360" cy="38953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017520"/>
                <a:gridCol w="3977640"/>
                <a:gridCol w="3840480"/>
              </a:tblGrid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类别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接口（拟定路由）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输入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输出 / 说明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</a:tr>
              <a:tr h="384048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页面接口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景点查询　GET /spots/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关键词、区域、类型、门票价格区间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景点列表、景点详情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 vMerge="1"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生成行程　POST /plans/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日期、天数、出发点、每日时间、兴趣、预算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分日行程；未生成完整行程时返回冲突清单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384048">
                <a:tc vMerge="1"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我的行程　/trips/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行程编号；替换景点、调整顺序、删除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重新检查后的行程（只能操作本人行程）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 vMerge="1"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后台与统计　/admin/ /stats/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基础数据；按时间、天数、来源筛选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维护结果、统计汇总（仅管理员）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384048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内部接口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1580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路线生成服务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规划参数 + 候选景点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分日行程 或 冲突清单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 vMerge="1"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1580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约束检查服务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一条完整行程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逐项检查结果（生成与调整共用）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384048">
                <a:tc vMerge="1"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1580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统计服务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筛选条件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汇总指标（统计页与验证共用）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外部接口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E46C0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腾讯地图 JS API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出发点、景点坐标、访问顺序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地图点位与顺序连线（只展示）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384048">
                <a:tc vMerge="1"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E46C0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腾讯地图路径规划服务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两个地点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有方向的驾车距离与耗时，存为交通矩阵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5943600"/>
            <a:ext cx="73152" cy="658368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5943600"/>
            <a:ext cx="10213848" cy="658368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rIns="137160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说明：</a:t>
            </a:r>
            <a:r>
              <a:rPr sz="1550" b="0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本系统是 Django 模板页面，页面接口就是 URL 路由对应的视图；路由名称为拟定，以实际开发为准。</a:t>
            </a:r>
            <a:endParaRPr sz="1550" b="0">
              <a:solidFill>
                <a:srgbClr val="003E9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主要数据类与增删改查权限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828800"/>
          <a:ext cx="626364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886200"/>
              </a:tblGrid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数据类（拟定）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主要内容 / 职责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004EA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User 用户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复用 Django Auth：账号、密码哈希、角色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Spot 景点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名称、位置、类型、标签、门票、开放时间、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建议游玩时长、资料来源、有效状态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基础数据类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Tag 兴趣标签、Region 区域分类、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StartPoint 预设出发点（每日起终点）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TravelLeg 交通路段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两地点间的驾车距离与耗时、数据版本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Itinerary 行程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所属用户、天数、门票合计、数据版本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ItineraryItem 行程明细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分日顺序与到达、游玩、返程时间快照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PlanRecord 规划记录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记录来源、结果状态、失败原因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223760" y="1828800"/>
          <a:ext cx="5577840" cy="31821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25880"/>
                <a:gridCol w="777240"/>
                <a:gridCol w="1783080"/>
                <a:gridCol w="1691640"/>
              </a:tblGrid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1580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游客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1580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普通用户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1580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管理员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15807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景点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查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查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增、改、查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设为失效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行程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增、删、改、查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（仅本人）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只看统计汇总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基础数据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增、删、改、查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账号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注册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改本人密码与信息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账号管理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角色分配、禁用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3F7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3E9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日志与统计</a:t>
                      </a:r>
                      <a:endParaRPr sz="1400" b="1">
                        <a:solidFill>
                          <a:srgbClr val="003E9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查看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5D3E8"/>
                      </a:solidFill>
                      <a:prstDash val="solid"/>
                    </a:lnL>
                    <a:lnR w="9525" cap="flat" cmpd="sng" algn="ctr">
                      <a:solidFill>
                        <a:srgbClr val="C5D3E8"/>
                      </a:solidFill>
                      <a:prstDash val="solid"/>
                    </a:lnR>
                    <a:lnT w="9525" cap="flat" cmpd="sng" algn="ctr">
                      <a:solidFill>
                        <a:srgbClr val="C5D3E8"/>
                      </a:solidFill>
                      <a:prstDash val="solid"/>
                    </a:lnT>
                    <a:lnB w="9525" cap="flat" cmpd="sng" algn="ctr">
                      <a:solidFill>
                        <a:srgbClr val="C5D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223760" y="5120640"/>
            <a:ext cx="557784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marL="201295" indent="-201295">
              <a:lnSpc>
                <a:spcPct val="115000"/>
              </a:lnSpc>
              <a:spcAft>
                <a:spcPts val="2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基础数据含标签、区域、出发点和交通数据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5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被历史行程引用的景点只设为失效、不物理删除，保证旧行程可追溯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7240" y="5989320"/>
            <a:ext cx="73152" cy="731520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" y="5989320"/>
            <a:ext cx="10213848" cy="7315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82880" rIns="137160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身份认证：复用 Django Auth，密码哈希保存，登录后建立会话；查询行程按所属用户过滤，访问他人行程会被拒绝（列入越权测试）。</a:t>
            </a:r>
            <a:endParaRPr sz="1550" b="1">
              <a:solidFill>
                <a:srgbClr val="003E9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进度安排与预期成果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822960" y="2761488"/>
            <a:ext cx="12024360" cy="0"/>
          </a:xfrm>
          <a:prstGeom prst="line">
            <a:avLst/>
          </a:prstGeom>
          <a:ln w="28575">
            <a:solidFill>
              <a:srgbClr val="004EA2"/>
            </a:solidFill>
            <a:tailEnd type="triangle" w="med" len="med"/>
          </a:ln>
        </p:spPr>
      </p:cxnSp>
      <p:sp>
        <p:nvSpPr>
          <p:cNvPr id="14" name="TextBox 13"/>
          <p:cNvSpPr txBox="1"/>
          <p:nvPr/>
        </p:nvSpPr>
        <p:spPr>
          <a:xfrm>
            <a:off x="347472" y="1810512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阶段 1</a:t>
            </a:r>
            <a:endParaRPr sz="16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2026.10.08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至 2026.10.16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124712" y="2651760"/>
            <a:ext cx="219456" cy="219456"/>
          </a:xfrm>
          <a:prstGeom prst="ellipse">
            <a:avLst/>
          </a:prstGeom>
          <a:solidFill>
            <a:srgbClr val="004EA2"/>
          </a:solidFill>
          <a:ln w="25400">
            <a:solidFill>
              <a:srgbClr val="FFFFFF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" y="3017520"/>
            <a:ext cx="1682496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选题、开题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57984" y="1810512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阶段 2</a:t>
            </a:r>
            <a:endParaRPr sz="16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2026.10.17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至 2026.10.21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2935224" y="2651760"/>
            <a:ext cx="219456" cy="219456"/>
          </a:xfrm>
          <a:prstGeom prst="ellipse">
            <a:avLst/>
          </a:prstGeom>
          <a:solidFill>
            <a:srgbClr val="004EA2"/>
          </a:solidFill>
          <a:ln w="25400">
            <a:solidFill>
              <a:srgbClr val="FFFFFF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03704" y="3017520"/>
            <a:ext cx="1682496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开题答辩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68496" y="1810512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600" b="1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阶段 3</a:t>
            </a:r>
            <a:endParaRPr sz="1600" b="1">
              <a:solidFill>
                <a:srgbClr val="E46C0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2026.10.22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至 2026.12.22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718304" y="2624328"/>
            <a:ext cx="274320" cy="274320"/>
          </a:xfrm>
          <a:prstGeom prst="ellipse">
            <a:avLst/>
          </a:prstGeom>
          <a:solidFill>
            <a:srgbClr val="E46C0A"/>
          </a:solidFill>
          <a:ln w="25400">
            <a:solidFill>
              <a:srgbClr val="FFFFFF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14216" y="3017520"/>
            <a:ext cx="1682496" cy="603504"/>
          </a:xfrm>
          <a:prstGeom prst="rect">
            <a:avLst/>
          </a:prstGeom>
          <a:solidFill>
            <a:srgbClr val="E46C0A"/>
          </a:solidFill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完成论文（设计）初稿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79008" y="1810512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阶段 4</a:t>
            </a:r>
            <a:endParaRPr sz="16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2026.12.23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至 2027.01.15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6556248" y="2651760"/>
            <a:ext cx="219456" cy="219456"/>
          </a:xfrm>
          <a:prstGeom prst="ellipse">
            <a:avLst/>
          </a:prstGeom>
          <a:solidFill>
            <a:srgbClr val="004EA2"/>
          </a:solidFill>
          <a:ln w="25400">
            <a:solidFill>
              <a:srgbClr val="FFFFFF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24728" y="3017520"/>
            <a:ext cx="1682496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完成论文（设计）二稿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89520" y="1810512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阶段 5</a:t>
            </a:r>
            <a:endParaRPr sz="16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2027.01.16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至 2027.02.28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8366760" y="2651760"/>
            <a:ext cx="219456" cy="219456"/>
          </a:xfrm>
          <a:prstGeom prst="ellipse">
            <a:avLst/>
          </a:prstGeom>
          <a:solidFill>
            <a:srgbClr val="004EA2"/>
          </a:solidFill>
          <a:ln w="25400">
            <a:solidFill>
              <a:srgbClr val="FFFFFF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35240" y="3017520"/>
            <a:ext cx="1682496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完成论文（设计）定稿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400032" y="1810512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阶段 6</a:t>
            </a:r>
            <a:endParaRPr sz="16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2027.03.01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至 2027.03.15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10177272" y="2651760"/>
            <a:ext cx="219456" cy="219456"/>
          </a:xfrm>
          <a:prstGeom prst="ellipse">
            <a:avLst/>
          </a:prstGeom>
          <a:solidFill>
            <a:srgbClr val="004EA2"/>
          </a:solidFill>
          <a:ln w="25400">
            <a:solidFill>
              <a:srgbClr val="FFFFFF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45752" y="3017520"/>
            <a:ext cx="1682496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论文交叉评阅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1210544" y="1810512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6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阶段 7</a:t>
            </a:r>
            <a:endParaRPr sz="1600" b="1">
              <a:solidFill>
                <a:srgbClr val="004EA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2027.03.16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</a:rPr>
              <a:t>至 2027.04.18</a:t>
            </a:r>
            <a:endParaRPr sz="12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11987784" y="2651760"/>
            <a:ext cx="219456" cy="219456"/>
          </a:xfrm>
          <a:prstGeom prst="ellipse">
            <a:avLst/>
          </a:prstGeom>
          <a:solidFill>
            <a:srgbClr val="004EA2"/>
          </a:solidFill>
          <a:ln w="25400">
            <a:solidFill>
              <a:srgbClr val="FFFFFF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56264" y="3017520"/>
            <a:ext cx="1682496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C5D3E8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第 1、2 次答辩</a:t>
            </a:r>
            <a:endParaRPr sz="14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77240" y="3767328"/>
            <a:ext cx="12024360" cy="420624"/>
          </a:xfrm>
          <a:prstGeom prst="rect">
            <a:avLst/>
          </a:prstGeom>
          <a:solidFill>
            <a:srgbClr val="FDF3EA"/>
          </a:solidFill>
          <a:ln w="12700">
            <a:solidFill>
              <a:srgbClr val="F3C9A3"/>
            </a:solidFill>
          </a:ln>
        </p:spPr>
        <p:txBody>
          <a:bodyPr wrap="square" lIns="137160" tIns="18288" bIns="18288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E46C0A"/>
                </a:solidFill>
                <a:latin typeface="微软雅黑" panose="020B0503020204020204" charset="-122"/>
                <a:ea typeface="微软雅黑" panose="020B0503020204020204" charset="-122"/>
              </a:rPr>
              <a:t>阶段 3 开发顺序（拟）：</a:t>
            </a:r>
            <a:r>
              <a:rPr sz="145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数据库设计 → 整理景点数据 → 核心功能编码 → 行程管理与地图 → 统计验证与测试 → 论文初稿</a:t>
            </a:r>
            <a:endParaRPr sz="145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777240" y="4389120"/>
            <a:ext cx="5486400" cy="457200"/>
          </a:xfrm>
          <a:prstGeom prst="rect">
            <a:avLst/>
          </a:prstGeom>
          <a:solidFill>
            <a:srgbClr val="004EA2"/>
          </a:solidFill>
          <a:ln>
            <a:noFill/>
          </a:ln>
        </p:spPr>
        <p:txBody>
          <a:bodyPr wrap="square" lIns="182880" tIns="27432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预期成果</a:t>
            </a:r>
            <a:endParaRPr sz="1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777240" y="4846320"/>
            <a:ext cx="5486400" cy="187452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910328"/>
            <a:ext cx="5257800" cy="179222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marL="201295" indent="-201295">
              <a:lnSpc>
                <a:spcPct val="112000"/>
              </a:lnSpc>
              <a:spcAft>
                <a:spcPts val="6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原型系统：</a:t>
            </a: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可在个人电脑运行的 Django 系统，用户生成并调整 1—3 日行程，管理员维护数据、查看统计。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6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提交材料：</a:t>
            </a: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系统源代码、案例数据说明、需求与设计文档、测试记录和毕业论文。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201295" indent="-201295">
              <a:lnSpc>
                <a:spcPct val="112000"/>
              </a:lnSpc>
              <a:spcAft>
                <a:spcPts val="400"/>
              </a:spcAft>
              <a:buClr>
                <a:srgbClr val="004EA2"/>
              </a:buClr>
              <a:buFont typeface="Arial" panose="020B0604020202020204"/>
              <a:buChar char="•"/>
            </a:pPr>
            <a:r>
              <a:rPr sz="1500" b="1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验收重点：</a:t>
            </a: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时间和门票计算正确，违反条件能被发现，固定场景能重复跑出同样结果。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492240" y="4389120"/>
            <a:ext cx="4617720" cy="457200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182880" tIns="27432" bIns="27432" rtlCol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本课题特色</a:t>
            </a:r>
            <a:endParaRPr sz="1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492240" y="4919472"/>
            <a:ext cx="502920" cy="566928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995160" y="4919472"/>
            <a:ext cx="4114800" cy="566928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37160" tIns="18288" bIns="18288" rtlCol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规则可检查</a:t>
            </a:r>
            <a:endParaRPr sz="1500" b="1">
              <a:solidFill>
                <a:srgbClr val="003E9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时间与门票逐项检查，用 15 组固定场景验证</a:t>
            </a:r>
            <a:endParaRPr sz="13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492240" y="5532120"/>
            <a:ext cx="502920" cy="566928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995160" y="5532120"/>
            <a:ext cx="4114800" cy="566928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37160" tIns="18288" bIns="18288" rtlCol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调整后即时复查</a:t>
            </a:r>
            <a:endParaRPr sz="1500" b="1">
              <a:solidFill>
                <a:srgbClr val="003E9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改动后自动重算，指出冲突景点和超出多少</a:t>
            </a:r>
            <a:endParaRPr sz="13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492240" y="6144768"/>
            <a:ext cx="502920" cy="566928"/>
          </a:xfrm>
          <a:prstGeom prst="rect">
            <a:avLst/>
          </a:prstGeom>
          <a:solidFill>
            <a:srgbClr val="003E9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995160" y="6144768"/>
            <a:ext cx="4114800" cy="566928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 wrap="square" lIns="137160" tIns="18288" bIns="18288" rtlCol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003E9B"/>
                </a:solidFill>
                <a:latin typeface="微软雅黑" panose="020B0503020204020204" charset="-122"/>
                <a:ea typeface="微软雅黑" panose="020B0503020204020204" charset="-122"/>
              </a:rPr>
              <a:t>结果可追溯</a:t>
            </a:r>
            <a:endParaRPr sz="1500" b="1">
              <a:solidFill>
                <a:srgbClr val="003E9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</a:rPr>
              <a:t>保留结果、数据版本和检查记录，可回查明细</a:t>
            </a:r>
            <a:endParaRPr sz="13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68605" y="252095"/>
            <a:ext cx="1868170" cy="32702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838119" y="2652906"/>
            <a:ext cx="67998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dirty="0">
                <a:solidFill>
                  <a:srgbClr val="003E9B"/>
                </a:solidFill>
                <a:latin typeface="思源黑体 CN Medium" pitchFamily="34" charset="-122"/>
                <a:ea typeface="思源黑体 CN Medium" pitchFamily="34" charset="-122"/>
              </a:rPr>
              <a:t>THANKS !</a:t>
            </a:r>
            <a:endParaRPr lang="en-US" altLang="zh-CN" sz="9600" dirty="0">
              <a:solidFill>
                <a:srgbClr val="003E9B"/>
              </a:solidFill>
              <a:latin typeface="思源黑体 CN Medium" pitchFamily="34" charset="-122"/>
              <a:ea typeface="思源黑体 CN Medium" pitchFamily="34" charset="-122"/>
            </a:endParaRPr>
          </a:p>
        </p:txBody>
      </p:sp>
      <p:cxnSp>
        <p:nvCxnSpPr>
          <p:cNvPr id="5" name="直接连接符 4"/>
          <p:cNvCxnSpPr/>
          <p:nvPr/>
        </p:nvCxnSpPr>
        <p:spPr>
          <a:xfrm flipH="1">
            <a:off x="2638165" y="381635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 descr="广科辅助"/>
          <p:cNvPicPr>
            <a:picLocks noChangeAspect="1"/>
          </p:cNvPicPr>
          <p:nvPr/>
        </p:nvPicPr>
        <p:blipFill>
          <a:blip r:embed="rId2">
            <a:lum bright="-12000"/>
          </a:blip>
          <a:stretch>
            <a:fillRect/>
          </a:stretch>
        </p:blipFill>
        <p:spPr>
          <a:xfrm>
            <a:off x="0" y="3747052"/>
            <a:ext cx="2992863" cy="4172986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967330" y="403790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003E9B"/>
                </a:solidFill>
                <a:latin typeface="思源黑体 CN Bold" pitchFamily="34" charset="-122"/>
                <a:ea typeface="思源黑体 CN Bold" pitchFamily="34" charset="-122"/>
              </a:rPr>
              <a:t>谢谢大家的聆听</a:t>
            </a:r>
            <a:endParaRPr lang="zh-CN" altLang="en-US" dirty="0">
              <a:solidFill>
                <a:srgbClr val="003E9B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附图1　用户与权限管理模块用例图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469" y="1847088"/>
            <a:ext cx="504255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附图2　景点数据管理模块用例图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54" y="1847088"/>
            <a:ext cx="501417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附图3　景点检索模块用例图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5535" y="1847088"/>
            <a:ext cx="544841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附图4　路线规划模块用例图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0776" y="1847088"/>
            <a:ext cx="5957936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附图5　约束检查与冲突解释模块用例图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879" y="1847088"/>
            <a:ext cx="580573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附图6　行程调整与管理模块用例图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630" y="1847088"/>
            <a:ext cx="53922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附图7　地图与结果展示模块用例图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3683" y="1847088"/>
            <a:ext cx="679212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附图8　后台数据维护模块用例图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4847" y="1847088"/>
            <a:ext cx="5329794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附图9　规划统计分析模块用例图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446" y="1847088"/>
            <a:ext cx="5766596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附图10　路线规划验证模块用例图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735" y="1847088"/>
            <a:ext cx="618801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附图11　系统总体用例图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916" y="1847088"/>
            <a:ext cx="4453655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\Users\Administrator\Desktop\广科logo.png广科logo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87020" y="314325"/>
            <a:ext cx="2161540" cy="37909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 flipH="1">
            <a:off x="2638165" y="426626"/>
            <a:ext cx="10999814" cy="33972"/>
          </a:xfrm>
          <a:prstGeom prst="line">
            <a:avLst/>
          </a:prstGeom>
          <a:ln>
            <a:solidFill>
              <a:srgbClr val="1E94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868950" y="1287467"/>
            <a:ext cx="115214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4EA2"/>
                </a:solidFill>
                <a:latin typeface="微软雅黑" panose="020B0503020204020204" charset="-122"/>
                <a:ea typeface="微软雅黑" panose="020B0503020204020204" charset="-122"/>
              </a:rPr>
              <a:t>附图12　系统功能模块图</a:t>
            </a:r>
            <a:endParaRPr lang="zh-CN" altLang="en-US" sz="2400" dirty="0">
              <a:solidFill>
                <a:srgbClr val="004EA2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698120" y="1416453"/>
            <a:ext cx="230744" cy="198917"/>
          </a:xfrm>
          <a:prstGeom prst="triangle">
            <a:avLst/>
          </a:prstGeom>
          <a:solidFill>
            <a:srgbClr val="004E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广科辅助"/>
          <p:cNvPicPr>
            <a:picLocks noChangeAspect="1"/>
          </p:cNvPicPr>
          <p:nvPr/>
        </p:nvPicPr>
        <p:blipFill rotWithShape="1">
          <a:blip r:embed="rId2">
            <a:lum bright="-12000"/>
          </a:blip>
          <a:srcRect b="39996"/>
          <a:stretch>
            <a:fillRect/>
          </a:stretch>
        </p:blipFill>
        <p:spPr>
          <a:xfrm flipH="1">
            <a:off x="11310098" y="5804452"/>
            <a:ext cx="2369387" cy="2115586"/>
          </a:xfrm>
          <a:prstGeom prst="rect">
            <a:avLst/>
          </a:prstGeom>
        </p:spPr>
      </p:pic>
      <p:pic>
        <p:nvPicPr>
          <p:cNvPr id="13" name="Picture 12" descr="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084" y="1847088"/>
            <a:ext cx="10147032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5715</Words>
  <Application>WPS 演示</Application>
  <PresentationFormat>自定义</PresentationFormat>
  <Paragraphs>829</Paragraphs>
  <Slides>27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9" baseType="lpstr">
      <vt:lpstr>Arial</vt:lpstr>
      <vt:lpstr>宋体</vt:lpstr>
      <vt:lpstr>Wingdings</vt:lpstr>
      <vt:lpstr>微软雅黑</vt:lpstr>
      <vt:lpstr>思源黑体 CN Medium</vt:lpstr>
      <vt:lpstr>黑体</vt:lpstr>
      <vt:lpstr>思源黑体 CN Bold</vt:lpstr>
      <vt:lpstr>Arial</vt:lpstr>
      <vt:lpstr>Consolas</vt:lpstr>
      <vt:lpstr>Arial Unicode MS</vt:lpstr>
      <vt:lpstr>Calibri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Assassin</cp:lastModifiedBy>
  <cp:revision>395</cp:revision>
  <dcterms:created xsi:type="dcterms:W3CDTF">1900-01-01T00:00:00Z</dcterms:created>
  <dcterms:modified xsi:type="dcterms:W3CDTF">2026-10-15T12:05:18Z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821A34E81B1A4AF4ADA60DA69F99947E_13</vt:lpwstr>
  </property>
</Properties>
</file>