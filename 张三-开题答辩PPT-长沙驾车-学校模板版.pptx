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9"/>
  </p:notesMasterIdLst>
  <p:handoutMasterIdLst>
    <p:handoutMasterId r:id="rId10"/>
  </p:handoutMasterIdLst>
  <p:sldIdLst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</p:sldIdLst>
  <p:sldSz cx="13679488" cy="7920038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956171A-8F56-45EB-834E-C38C95D5B937}">
          <p14:sldIdLst>
            <p14:sldId id="258"/>
            <p14:sldId id="365"/>
            <p14:sldId id="366"/>
            <p14:sldId id="324"/>
            <p14:sldId id="367"/>
            <p14:sldId id="273"/>
          </p14:sldIdLst>
        </p14:section>
        <p14:section name="组织宣传" id="{F787C6D9-7CF9-4852-92D5-9342800D3C07}">
          <p14:sldIdLst>
            <p14:sldId id="329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亚瑟的 豆豆" initials="亚瑟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9B"/>
    <a:srgbClr val="004EA2"/>
    <a:srgbClr val="0F60B7"/>
    <a:srgbClr val="00B097"/>
    <a:srgbClr val="B8183F"/>
    <a:srgbClr val="E7E6E6"/>
    <a:srgbClr val="F6F6F6"/>
    <a:srgbClr val="EDEDED"/>
    <a:srgbClr val="E7F5F8"/>
    <a:srgbClr val="1A6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-564" y="-90"/>
      </p:cViewPr>
      <p:guideLst>
        <p:guide orient="horz" pos="2469"/>
        <p:guide pos="431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-3972" y="-114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  <a:t>2021/5/20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335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2021/5/20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592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【第1页】基于Django的短途旅游路线规划系统设计与实现</a:t>
            </a:r>
          </a:p>
          <a:p>
            <a:r>
              <a:t>【建议用时】8分钟版20秒；5分钟版10秒。提问另计。</a:t>
            </a:r>
          </a:p>
          <a:p>
            <a:r>
              <a:t>【本页记住】我要做一个能生成、能调整、能检查的短途行程规划原型。</a:t>
            </a:r>
          </a:p>
          <a:p/>
          <a:p>
            <a:r>
              <a:t>【8分钟逐页讲稿】</a:t>
            </a:r>
          </a:p>
          <a:p>
            <a:r>
              <a:t>各位老师好，我是张三。我的开题题目是《基于Django的短途旅游路线规划系统设计与实现》。本课题以长沙及周边的驾车出行为案例，计划完成路线生成、行程调整和约束检查。下面从选题、方案和验证计划三个方面汇报。</a:t>
            </a:r>
          </a:p>
          <a:p/>
          <a:p>
            <a:r>
              <a:t>【5分钟精简讲法】</a:t>
            </a:r>
          </a:p>
          <a:p>
            <a:r>
              <a:t>各位老师好，我是张三。我的课题是基于Django的短途旅游路线规划系统，以下汇报长沙驾车案例的设计与验证计划。</a:t>
            </a:r>
          </a:p>
          <a:p/>
          <a:p>
            <a:r>
              <a:t>【动作提示】看老师，报姓名和题目；不要把整页封面逐字念完。</a:t>
            </a:r>
          </a:p>
          <a:p>
            <a:r>
              <a:t>【诚实边界】这是一份开题方案汇报，不是已完成系统的成果展示。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【第2页】选题背景与研究定位</a:t>
            </a:r>
          </a:p>
          <a:p>
            <a:r>
              <a:t>【建议用时】8分钟版35秒；5分钟版20秒。提问另计。</a:t>
            </a:r>
          </a:p>
          <a:p>
            <a:r>
              <a:t>【本页记住】想去哪些地方，不等于当天真的走得完。</a:t>
            </a:r>
          </a:p>
          <a:p/>
          <a:p>
            <a:r>
              <a:t>【8分钟逐页讲稿】</a:t>
            </a:r>
          </a:p>
          <a:p>
            <a:r>
              <a:t>这个课题想解决的不是景点资料不够多，而是把想去的地方安排成能执行的行程。比如一条路线距离不远，也可能因为景点闭馆较早、游玩时间太长，或者没有留返程时间而走不完。相关方法包括景点推荐和带时间窗的行程规划。本课题不追求替代商业平台，也不提出新的理论算法，而是在小规模案例中把路线生成、调整和检查做成一个完整的Web流程。</a:t>
            </a:r>
          </a:p>
          <a:p/>
          <a:p>
            <a:r>
              <a:t>【5分钟精简讲法】</a:t>
            </a:r>
          </a:p>
          <a:p>
            <a:r>
              <a:t>路线距离近，不代表时间上能完成。本课题关注开放时间、游玩时长和返程约束，在小规模案例中实现可生成、可调整、可检查的行程，不与商业平台比功能多少。</a:t>
            </a:r>
          </a:p>
          <a:p/>
          <a:p>
            <a:r>
              <a:t>【动作提示】先讲一个具体困难，再指向“本课题重点”，不要泛讲旅游行业前景。</a:t>
            </a:r>
          </a:p>
          <a:p>
            <a:r>
              <a:t>【诚实边界】研究方向是概括性说明；12条文献尚需本人逐条核实，不能声称已精读全部原文。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【第3页】研究范围与约束边界</a:t>
            </a:r>
          </a:p>
          <a:p>
            <a:r>
              <a:t>【建议用时】8分钟版30秒；5分钟版20秒。提问另计。</a:t>
            </a:r>
          </a:p>
          <a:p>
            <a:r>
              <a:t>【本页记住】长沙、驾车、20—30个景点、1—3日，先把范围做小。</a:t>
            </a:r>
          </a:p>
          <a:p/>
          <a:p>
            <a:r>
              <a:t>【8分钟逐页讲稿】</a:t>
            </a:r>
          </a:p>
          <a:p>
            <a:r>
              <a:t>案例范围确定为长沙及周边，计划整理二十到三十个景点，交通方式固定为驾车，支持一至三日行程。用户从预设出发点中选择一处，每天出发并返回同一点，每天至少安排一个景点，跨日不重复。为了控制毕业设计的工作量，本次不处理住宿选址、餐饮预订和实时拥堵预测。费用只计算门票，其他开销不包含在预算指标里。</a:t>
            </a:r>
          </a:p>
          <a:p/>
          <a:p>
            <a:r>
              <a:t>【5分钟精简讲法】</a:t>
            </a:r>
          </a:p>
          <a:p>
            <a:r>
              <a:t>范围限定为长沙及周边、驾车、二十到三十个景点和一至三日。每天从同一预设点出发并返回，门票单独预算，不扩展到住宿和实时拥堵。</a:t>
            </a:r>
          </a:p>
          <a:p/>
          <a:p>
            <a:r>
              <a:t>【动作提示】指四个关键数字与范围；把“不做什么”说清楚。</a:t>
            </a:r>
          </a:p>
          <a:p>
            <a:r>
              <a:t>【诚实边界】景点数量是计划规模，具体名单和出发点坐标尚未确定。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【第4页】系统功能与使用流程</a:t>
            </a:r>
          </a:p>
          <a:p>
            <a:r>
              <a:t>【建议用时】8分钟版35秒；5分钟版20秒。提问另计。</a:t>
            </a:r>
          </a:p>
          <a:p>
            <a:r>
              <a:t>【本页记住】输入条件 → 生成行程 → 调整 → 再检查 → 保存展示。</a:t>
            </a:r>
          </a:p>
          <a:p/>
          <a:p>
            <a:r>
              <a:t>【8分钟逐页讲稿】</a:t>
            </a:r>
          </a:p>
          <a:p>
            <a:r>
              <a:t>系统分为普通用户和管理员两类角色。用户先查询景点、输入日期、可用时间、兴趣标签和门票预算，再获得分日行程。如果用户替换景点或调整顺序，系统会重新计算后续时间、返程和预算，检查通过后再保存。管理员负责账号、景点资料、异常记录和规划统计。报告共有十个功能模块，这里按用户操作流程归纳，完整模块图放在备查页。</a:t>
            </a:r>
          </a:p>
          <a:p/>
          <a:p>
            <a:r>
              <a:t>【5分钟精简讲法】</a:t>
            </a:r>
          </a:p>
          <a:p>
            <a:r>
              <a:t>用户查询景点并输入条件，系统生成分日行程。替换或调序后重新检查，通过后保存。管理员维护资料、账号、异常记录和统计，完整十模块图在备查页。</a:t>
            </a:r>
          </a:p>
          <a:p/>
          <a:p>
            <a:r>
              <a:t>【动作提示】从左到右指流程；强调调整后必须重新校验。</a:t>
            </a:r>
          </a:p>
          <a:p>
            <a:r>
              <a:t>【诚实边界】本页是拟实现功能，不是已经上线的界面或操作演示。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【第5页】时间约束怎样检查：一个虚拟算例</a:t>
            </a:r>
          </a:p>
          <a:p>
            <a:r>
              <a:t>【建议用时】8分钟版40秒；5分钟版30秒。提问另计。</a:t>
            </a:r>
          </a:p>
          <a:p>
            <a:r>
              <a:t>【本页记住】总时间不仅有开车和游玩，还要加等待与返程。</a:t>
            </a:r>
          </a:p>
          <a:p/>
          <a:p>
            <a:r>
              <a:t>【8分钟逐页讲稿】</a:t>
            </a:r>
          </a:p>
          <a:p>
            <a:r>
              <a:t>这一页是教学用的虚拟算例，不是真实长沙景点数据。假设九点出发，开车三十分钟到A，但A十点开放，所以还要等待三十分钟。游玩一小时后，再开二十分钟到B，游玩四十分钟，最后返程四十分钟，十二点四十分回到出发点。这样总共二百二十分钟。系统需要检查游玩结束是否早于闭馆时间、返程是否超过当天时限，以及门票是否超预算，而不是只把两处景点的游玩时间相加。</a:t>
            </a:r>
          </a:p>
          <a:p/>
          <a:p>
            <a:r>
              <a:t>【5分钟精简讲法】</a:t>
            </a:r>
          </a:p>
          <a:p>
            <a:r>
              <a:t>这是虚拟算例：九点出发，到A后等到十点开放，再游玩、去B并返程，十二点四十分返回，共二百二十分钟。它说明总时间要包含等待和返程，并检查闭馆、返回时限和门票预算。</a:t>
            </a:r>
          </a:p>
          <a:p/>
          <a:p>
            <a:r>
              <a:t>【动作提示】沿时间条顺序讲；不用现场心算，记住220分钟、12:40返回。</a:t>
            </a:r>
          </a:p>
          <a:p>
            <a:r>
              <a:t>【诚实边界】A、B、时间和票价仅用于解释规则，不能称为采集数据或实验结果。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【第6页】技术路线与系统架构</a:t>
            </a:r>
          </a:p>
          <a:p>
            <a:r>
              <a:t>【建议用时】8分钟版40秒；5分钟版25秒。提问另计。</a:t>
            </a:r>
          </a:p>
          <a:p>
            <a:r>
              <a:t>【本页记住】浏览器负责操作，Django负责业务，独立Python模块负责算路线。</a:t>
            </a:r>
          </a:p>
          <a:p/>
          <a:p>
            <a:r>
              <a:t>【8分钟逐页讲稿】</a:t>
            </a:r>
          </a:p>
          <a:p>
            <a:r>
              <a:t>系统采用B/S结构，也就是用户通过浏览器操作。前端使用Django模板和Bootstrap，后端由Django处理请求、权限和数据。注册登录复用Auth，基础资料维护复用Admin，数据库先用SQLite。路线算法写成独立Python模块，不直接依赖页面，这样可以单独测试。腾讯地图负责显示出发点、景点和访问顺序，真正的约束计算在后端完成。地图显示失败时，已经生成的文字行程仍然保留。</a:t>
            </a:r>
          </a:p>
          <a:p/>
          <a:p>
            <a:r>
              <a:t>【5分钟精简讲法】</a:t>
            </a:r>
          </a:p>
          <a:p>
            <a:r>
              <a:t>浏览器展示页面，Django处理业务和数据，独立Python模块计算路线。Auth和Admin复用基础能力，SQLite用于本地演示，腾讯地图显示点位，算法测试不依赖地图页面。</a:t>
            </a:r>
          </a:p>
          <a:p/>
          <a:p>
            <a:r>
              <a:t>【动作提示】沿架构自上而下解释；每个名词只说在项目中负责什么。</a:t>
            </a:r>
          </a:p>
          <a:p>
            <a:r>
              <a:t>【诚实边界】框架降低基础开发量，但不自动解决路线规划算法，也不意味着系统已实现。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【第7页】数据来源与交通矩阵</a:t>
            </a:r>
          </a:p>
          <a:p>
            <a:r>
              <a:t>【建议用时】8分钟版35秒；5分钟版20秒。提问另计。</a:t>
            </a:r>
          </a:p>
          <a:p>
            <a:r>
              <a:t>【本页记住】先准备可追溯的数据，再让四种算法使用同一版本。</a:t>
            </a:r>
          </a:p>
          <a:p/>
          <a:p>
            <a:r>
              <a:t>【8分钟逐页讲稿】</a:t>
            </a:r>
          </a:p>
          <a:p>
            <a:r>
              <a:t>景点资料计划从景区或文旅部门公开信息中整理，记录来源和采集日期。交通矩阵可以理解为一张表，记录从一个点开车到另一个点需要的距离和时间，既包括景点之间，也包括出发点的去程与返程。两个方向不一定相同。平台数据要遵守授权、配额和保存规则，同批实验固定一个版本。如果正式实验拿不到平台数据，会统一使用明确标注的模拟矩阵，并说明它不能验证真实道路上的可达性。</a:t>
            </a:r>
          </a:p>
          <a:p/>
          <a:p>
            <a:r>
              <a:t>【5分钟精简讲法】</a:t>
            </a:r>
          </a:p>
          <a:p>
            <a:r>
              <a:t>景点资料记录官方来源和采集日期；交通矩阵保存有方向的驾车距离与耗时，包含出发点往返。实验固定版本。若平台数据不可得，统一用标注清楚的模拟矩阵，不混用或冒充真实道路数据。</a:t>
            </a:r>
          </a:p>
          <a:p/>
          <a:p>
            <a:r>
              <a:t>【动作提示】解释“矩阵就是点到点的时间表”；说明授权与模拟数据边界。</a:t>
            </a:r>
          </a:p>
          <a:p>
            <a:r>
              <a:t>【诚实边界】目前没有已完成的景点清单或平台授权证据；不能说已经采集完数据。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【第8页】路线算法：先构造，再局部调整</a:t>
            </a:r>
          </a:p>
          <a:p>
            <a:r>
              <a:t>【建议用时】8分钟版60秒；5分钟版40秒。提问另计。</a:t>
            </a:r>
          </a:p>
          <a:p>
            <a:r>
              <a:t>【本页记住】先选当前合适的景点，再用小范围调整改善路线，不承诺全局最优。</a:t>
            </a:r>
          </a:p>
          <a:p/>
          <a:p>
            <a:r>
              <a:t>【8分钟逐页讲稿】</a:t>
            </a:r>
          </a:p>
          <a:p>
            <a:r>
              <a:t>算法分两步。第一步是带时间窗的贪心构造，每次从尚未访问、加入后满足约束的候选景点中，按收益与新增耗时的比值进行选择，并预留返程时间。收益由基础值一加兴趣匹配度组成，是便于解释的工程规则，不代表真实满意度。第二步是局部搜索，尝试交换顺序、插入或替换景点等操作，每次都重新检查完整约束。优先保留总收益更高的方案，同收益再比较交通耗时和门票。拟定最多一百轮，或完整一轮没有改进时停止。这是预设配置，后续要记录实际表现。它不保证全局最优，也不能因为没搜到就断言所有安排都无解。</a:t>
            </a:r>
          </a:p>
          <a:p/>
          <a:p>
            <a:r>
              <a:t>【5分钟精简讲法】</a:t>
            </a:r>
          </a:p>
          <a:p>
            <a:r>
              <a:t>先用贪心法按收益与新增耗时的比值选景点，每次预留返程；再用交换、插入、替换等局部调整改善路线，并重新检查约束。最多一百轮或一轮无改进停止。这是拟定规则，不保证全局最优，搜索失败也不等于条件必然无解。</a:t>
            </a:r>
          </a:p>
          <a:p/>
          <a:p>
            <a:r>
              <a:t>【动作提示】这是重点页，可以适当放慢。记住“先构造、再调整、每次检查、不能保证最优”。</a:t>
            </a:r>
          </a:p>
          <a:p>
            <a:r>
              <a:t>【诚实边界】100轮是预设上限；算法目前没有实验提升率或最优性证明。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【第9页】如何验证：四方案、十五组场景</a:t>
            </a:r>
          </a:p>
          <a:p>
            <a:r>
              <a:t>【建议用时】8分钟版50秒；5分钟版40秒。提问另计。</a:t>
            </a:r>
          </a:p>
          <a:p>
            <a:r>
              <a:t>【本页记住】同样的数据、同样的条件，比较四种方案，而不是凭感觉说更好。</a:t>
            </a:r>
          </a:p>
          <a:p/>
          <a:p>
            <a:r>
              <a:t>【8分钟逐页讲稿】</a:t>
            </a:r>
          </a:p>
          <a:p>
            <a:r>
              <a:t>验证分为功能测试和算法比较。算法比较计划设置一日、二日、三日各五组，共十五组常规场景，先人工给出满足约束的参考安排，再固定实验条件。比较时间窗贪心、驾车距离优先、兴趣优先和贪心加局部搜索四种方案。四者使用相同候选集、出发点、日期、交通矩阵与约束，记录可行率、景点数量、耗时、门票和兴趣匹配度。每组计时五次取中位数，但路线质量仍按十五个独立场景计算，不把重复运行当成新样本。错误输入和已知不可行条件另外做功能测试。</a:t>
            </a:r>
          </a:p>
          <a:p/>
          <a:p>
            <a:r>
              <a:t>【5分钟精简讲法】</a:t>
            </a:r>
          </a:p>
          <a:p>
            <a:r>
              <a:t>计划用一、二、三日各五组，共十五组常规场景，对比四种算法，统一数据和约束。比较可行率、景点数量、耗时、门票与匹配度。每组计时五次取中位数，质量仍按十五组计数；异常场景另测。</a:t>
            </a:r>
          </a:p>
          <a:p/>
          <a:p>
            <a:r>
              <a:t>【动作提示】突出公平比较；不要把计划实验说成已完成实验。</a:t>
            </a:r>
          </a:p>
          <a:p>
            <a:r>
              <a:t>【诚实边界】15组只作本科项目初步比较，不进行大范围统计推断；目前没有实测结果。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【第10页】规划统计：失败也要分清楚</a:t>
            </a:r>
          </a:p>
          <a:p>
            <a:r>
              <a:t>【建议用时】8分钟版35秒；5分钟版25秒。提问另计。</a:t>
            </a:r>
          </a:p>
          <a:p>
            <a:r>
              <a:t>【本页记住】输入错、程序错、算法没找到和成功，不是一回事。</a:t>
            </a:r>
          </a:p>
          <a:p/>
          <a:p>
            <a:r>
              <a:t>【8分钟逐页讲稿】</a:t>
            </a:r>
          </a:p>
          <a:p>
            <a:r>
              <a:t>统计模块把结果分成输入错误、系统异常、算法未找到完整行程和成功四类。日常运行可行率以输入通过、算法正常结束的有效请求为分母，输入错误和系统异常另外统计。耗时与门票的平均值只使用成功结果，并标出样本数，不能把失败记成零。日常运行和固定场景实验分别保存来源与批次；比较不同算法的耗时、费用时，还要看它们共同成功的场景，避免不同样本造成误导。</a:t>
            </a:r>
          </a:p>
          <a:p/>
          <a:p>
            <a:r>
              <a:t>【5分钟精简讲法】</a:t>
            </a:r>
          </a:p>
          <a:p>
            <a:r>
              <a:t>结果分四类，运行可行率只对有效请求计算。耗时和门票均值只用成功样本并标数量。日常运行与算法实验分开，算法优劣还要在共同成功的场景中比较。</a:t>
            </a:r>
          </a:p>
          <a:p/>
          <a:p>
            <a:r>
              <a:t>【动作提示】指四类状态，再解释“失败不记零”。</a:t>
            </a:r>
          </a:p>
          <a:p>
            <a:r>
              <a:t>【诚实边界】统计看板是计划功能，不是已经收集到的真实用户使用数据。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【第11页】进度安排与阶段交付</a:t>
            </a:r>
          </a:p>
          <a:p>
            <a:r>
              <a:t>【建议用时】8分钟版45秒；5分钟版25秒。提问另计。</a:t>
            </a:r>
          </a:p>
          <a:p>
            <a:r>
              <a:t>【本页记住】先做最小闭环，再扩展与测试；按报告原定日期推进。</a:t>
            </a:r>
          </a:p>
          <a:p/>
          <a:p>
            <a:r>
              <a:t>【8分钟逐页讲稿】</a:t>
            </a:r>
          </a:p>
          <a:p>
            <a:r>
              <a:t>进度按开题报告原计划推进。十月完成开题论证，十月二十二日至十二月二十二日完成案例数据、设计和核心算法初步实现，形成初稿；随后至次年一月十五日完善核心功能，形成二稿；一月十六日至二月底联调、测试并完成定稿；三月至五月完成评阅、答辩和归档。开发顺序上，先做单日路线和文字结果，再扩展多日、调整、地图和统计，避免一开始铺开所有模块。当前材料呈现的是方案，实际代码与实验进度需要按真实记录汇报。</a:t>
            </a:r>
          </a:p>
          <a:p/>
          <a:p>
            <a:r>
              <a:t>【5分钟精简讲法】</a:t>
            </a:r>
          </a:p>
          <a:p>
            <a:r>
              <a:t>按报告计划，先完成开题、数据和设计，再推进核心开发；一月至二月联调测试，三月至五月评阅答辩归档。先做单日路线和文字结果，再扩展多日、地图和统计。</a:t>
            </a:r>
          </a:p>
          <a:p/>
          <a:p>
            <a:r>
              <a:t>【动作提示】指时间轴，讲先后关系，不必逐个念日期。最后一句按本人真实进度更新。</a:t>
            </a:r>
          </a:p>
          <a:p>
            <a:r>
              <a:t>【诚实边界】不要把时间表里计划完成的内容说成已经完成；正式答辩前核对学校最新安排。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【第12页】项目特色、风险与预期成果</a:t>
            </a:r>
          </a:p>
          <a:p>
            <a:r>
              <a:t>【建议用时】8分钟版40秒；5分钟版15秒。提问另计。</a:t>
            </a:r>
          </a:p>
          <a:p>
            <a:r>
              <a:t>【本页记住】特色是规则落地和可追溯验证，不是“发明一个全新算法”。</a:t>
            </a:r>
          </a:p>
          <a:p/>
          <a:p>
            <a:r>
              <a:t>【8分钟逐页讲稿】</a:t>
            </a:r>
          </a:p>
          <a:p>
            <a:r>
              <a:t>本项目的特色主要体现在工程实现：调整行程后给出具体检查结果，运行统计和实验共用指标定义，并且能追溯到数据版本和明细。主要风险有交通数据取得受限、估计时间与实际情况有误差，以及功能范围过大。应对上，分别采用合规数据方案、如实标注误差和分阶段开发。预期交付可运行原型、案例数据说明、源代码、测试材料和论文。最终是否有效，需要由后续测试说明，而不是现在预设提升结论。</a:t>
            </a:r>
          </a:p>
          <a:p/>
          <a:p>
            <a:r>
              <a:t>【5分钟精简讲法】</a:t>
            </a:r>
          </a:p>
          <a:p>
            <a:r>
              <a:t>项目特色是调整后检查、统一统计和可追溯测试。主要风险通过数据合规、误差说明和分阶段开发控制。预期交付原型、代码、数据说明、测试材料和论文，不预设实验提升结论。</a:t>
            </a:r>
          </a:p>
          <a:p/>
          <a:p>
            <a:r>
              <a:t>【动作提示】把特色说成具体功能，不说“填补国内外空白”。</a:t>
            </a:r>
          </a:p>
          <a:p>
            <a:r>
              <a:t>【诚实边界】不声称理论创新、全局最优、用户满意度提升或已达到性能指标。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【第13页】谢谢大家的聆听</a:t>
            </a:r>
          </a:p>
          <a:p>
            <a:r>
              <a:t>【建议用时】8分钟版10秒；5分钟版10秒。提问另计。</a:t>
            </a:r>
          </a:p>
          <a:p>
            <a:r>
              <a:t>【本页记住】汇报结束，停下来听老师的问题。</a:t>
            </a:r>
          </a:p>
          <a:p/>
          <a:p>
            <a:r>
              <a:t>【8分钟逐页讲稿】</a:t>
            </a:r>
          </a:p>
          <a:p>
            <a:r>
              <a:t>以上是我的开题方案汇报。后续我将重点落实数据准备、完整约束检查和同条件实验比较。请各位老师批评指正，谢谢。</a:t>
            </a:r>
          </a:p>
          <a:p/>
          <a:p>
            <a:r>
              <a:t>【5分钟精简讲法】</a:t>
            </a:r>
          </a:p>
          <a:p>
            <a:r>
              <a:t>以上是我的开题汇报，请各位老师批评指正，谢谢。</a:t>
            </a:r>
          </a:p>
          <a:p/>
          <a:p>
            <a:r>
              <a:t>【动作提示】停在这一页，不继续翻到备查页。听清问题再答，必要时记下关键词。</a:t>
            </a:r>
          </a:p>
          <a:p>
            <a:r>
              <a:t>【诚实边界】不要因紧张额外声称已经完成未完成的工作。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【第14页】备查一：完整系统功能模块图</a:t>
            </a:r>
          </a:p>
          <a:p>
            <a:r>
              <a:t>【建议用时】8分钟版0秒；5分钟版0秒。提问另计。</a:t>
            </a:r>
          </a:p>
          <a:p>
            <a:r>
              <a:t>【本页记住】主讲按流程概括，本页对应报告的十个模块。</a:t>
            </a:r>
          </a:p>
          <a:p/>
          <a:p>
            <a:r>
              <a:t>【8分钟逐页讲稿】</a:t>
            </a:r>
          </a:p>
          <a:p>
            <a:r>
              <a:t>这张图对应报告中的十个功能模块。路线规划和约束检查是核心计算，用户与景点管理提供基础数据，规划统计分析运行记录，算法评价读取固定实验场景。统计与评价可共用指标代码，但入口和汇总范围分开。</a:t>
            </a:r>
          </a:p>
          <a:p/>
          <a:p>
            <a:r>
              <a:t>【5分钟精简讲法】</a:t>
            </a:r>
          </a:p>
          <a:p>
            <a:r>
              <a:t>仅被问到完整模块时打开，不纳入主讲。</a:t>
            </a:r>
          </a:p>
          <a:p/>
          <a:p>
            <a:r>
              <a:t>【动作提示】按老师问题定位分支，不从头念全部叶节点。</a:t>
            </a:r>
          </a:p>
          <a:p>
            <a:r>
              <a:t>【诚实边界】原报告图件，不代表实现完成；可编辑图源另附于报告交付。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【第15页】备查二：两类角色与总体用例</a:t>
            </a:r>
          </a:p>
          <a:p>
            <a:r>
              <a:t>【建议用时】8分钟版0秒；5分钟版0秒。提问另计。</a:t>
            </a:r>
          </a:p>
          <a:p>
            <a:r>
              <a:t>【本页记住】用户管理自己的行程，管理员维护系统数据和查看汇总。</a:t>
            </a:r>
          </a:p>
          <a:p/>
          <a:p>
            <a:r>
              <a:t>【8分钟逐页讲稿】</a:t>
            </a:r>
          </a:p>
          <a:p>
            <a:r>
              <a:t>普通用户完成查询、规划、调整和查看结果；管理员管理账号权限、维护景点与后台数据，并查看规划统计。权限上，普通用户只能查看和编辑自己的已保存行程，管理员统计页不展示用户名等可识别个人信息。</a:t>
            </a:r>
          </a:p>
          <a:p/>
          <a:p>
            <a:r>
              <a:t>【5分钟精简讲法】</a:t>
            </a:r>
          </a:p>
          <a:p>
            <a:r>
              <a:t>仅被问到角色和权限时打开，不纳入主讲。</a:t>
            </a:r>
          </a:p>
          <a:p/>
          <a:p>
            <a:r>
              <a:t>【动作提示】上方是普通用户，下方是管理员。</a:t>
            </a:r>
          </a:p>
          <a:p>
            <a:r>
              <a:t>【诚实边界】图是需求设计，不是上线系统截图。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【第16页】备查三：算法与统计口径</a:t>
            </a:r>
          </a:p>
          <a:p>
            <a:r>
              <a:t>【建议用时】8分钟版0秒；5分钟版0秒。提问另计。</a:t>
            </a:r>
          </a:p>
          <a:p>
            <a:r>
              <a:t>【本页记住】用明确的公式解释方案，分清运行请求和实验场景。</a:t>
            </a:r>
          </a:p>
          <a:p/>
          <a:p>
            <a:r>
              <a:t>【8分钟逐页讲稿】</a:t>
            </a:r>
          </a:p>
          <a:p>
            <a:r>
              <a:t>匹配度是景点和用户标签的交集数除以用户标签数，没有用户标签时为零；景点收益为一加匹配度，总收益为已访问景点收益之和。局部搜索按总收益、交通耗时、门票费用依次比较。运行可行率的分母是有效请求数，算法实验可行率的分母固定为十五个常规场景。成功均值需要标注样本数，并另作共同成功场景比较。</a:t>
            </a:r>
          </a:p>
          <a:p/>
          <a:p>
            <a:r>
              <a:t>【5分钟精简讲法】</a:t>
            </a:r>
          </a:p>
          <a:p>
            <a:r>
              <a:t>仅老师追问公式、停止条件或统计分母时打开。</a:t>
            </a:r>
          </a:p>
          <a:p/>
          <a:p>
            <a:r>
              <a:t>【动作提示】不会解释的公式不要背读，先回到每个量的白话含义。</a:t>
            </a:r>
          </a:p>
          <a:p>
            <a:r>
              <a:t>【诚实边界】工程评分不等于真实满意度；计时重复五次不等于样本量扩为七十五。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313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641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7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图片 4" descr="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827"/>
            <a:ext cx="13747750" cy="7952740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57" y="433989"/>
            <a:ext cx="3076718" cy="527254"/>
          </a:xfrm>
          <a:prstGeom prst="rect">
            <a:avLst/>
          </a:prstGeom>
        </p:spPr>
      </p:pic>
      <p:pic>
        <p:nvPicPr>
          <p:cNvPr id="24" name="图片 23" descr="广科辅助"/>
          <p:cNvPicPr>
            <a:picLocks noChangeAspect="1"/>
          </p:cNvPicPr>
          <p:nvPr/>
        </p:nvPicPr>
        <p:blipFill>
          <a:blip r:embed="rId4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25" name="V6_content_25"/>
          <p:cNvSpPr txBox="1"/>
          <p:nvPr/>
        </p:nvSpPr>
        <p:spPr>
          <a:xfrm>
            <a:off x="3291840" y="1901952"/>
            <a:ext cx="97840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本科毕业设计开题答辩</a:t>
            </a:r>
          </a:p>
        </p:txBody>
      </p:sp>
      <p:sp>
        <p:nvSpPr>
          <p:cNvPr id="26" name="V6_content_26"/>
          <p:cNvSpPr txBox="1"/>
          <p:nvPr/>
        </p:nvSpPr>
        <p:spPr>
          <a:xfrm>
            <a:off x="3291840" y="2761488"/>
            <a:ext cx="982980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基于Django的短途旅游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路线规划系统设计与实现</a:t>
            </a:r>
          </a:p>
        </p:txBody>
      </p:sp>
      <p:sp>
        <p:nvSpPr>
          <p:cNvPr id="27" name="V6_content_27"/>
          <p:cNvSpPr txBox="1"/>
          <p:nvPr/>
        </p:nvSpPr>
        <p:spPr>
          <a:xfrm>
            <a:off x="3328416" y="4562856"/>
            <a:ext cx="896112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</a:rPr>
              <a:t>长沙及周边 · 驾车 · 1—3日</a:t>
            </a:r>
          </a:p>
        </p:txBody>
      </p:sp>
      <p:sp>
        <p:nvSpPr>
          <p:cNvPr id="28" name="V6_content_28"/>
          <p:cNvSpPr txBox="1"/>
          <p:nvPr/>
        </p:nvSpPr>
        <p:spPr>
          <a:xfrm>
            <a:off x="3328416" y="5486400"/>
            <a:ext cx="941832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</a:rPr>
              <a:t>汇报人：张三    专业：软件工程</a:t>
            </a:r>
          </a:p>
        </p:txBody>
      </p:sp>
      <p:sp>
        <p:nvSpPr>
          <p:cNvPr id="29" name="V6_content_29"/>
          <p:cNvSpPr txBox="1"/>
          <p:nvPr/>
        </p:nvSpPr>
        <p:spPr>
          <a:xfrm>
            <a:off x="3328416" y="6080760"/>
            <a:ext cx="94183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指导教师：[请填写]    答辩日期：[请填写]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选题背景与研究定位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02 / 16</a:t>
            </a:r>
          </a:p>
        </p:txBody>
      </p:sp>
      <p:sp>
        <p:nvSpPr>
          <p:cNvPr id="15" name="V6_content_15"/>
          <p:cNvSpPr txBox="1"/>
          <p:nvPr/>
        </p:nvSpPr>
        <p:spPr>
          <a:xfrm>
            <a:off x="786384" y="1938528"/>
            <a:ext cx="116128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3F80"/>
                </a:solidFill>
                <a:latin typeface="Microsoft YaHei"/>
                <a:ea typeface="Microsoft YaHei"/>
              </a:rPr>
              <a:t>想去哪些地方 ≠ 当天真的走得完</a:t>
            </a:r>
          </a:p>
        </p:txBody>
      </p:sp>
      <p:sp>
        <p:nvSpPr>
          <p:cNvPr id="16" name="V6_content_16"/>
          <p:cNvSpPr txBox="1"/>
          <p:nvPr/>
        </p:nvSpPr>
        <p:spPr>
          <a:xfrm>
            <a:off x="822960" y="2862072"/>
            <a:ext cx="5074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实际问题</a:t>
            </a:r>
          </a:p>
        </p:txBody>
      </p:sp>
      <p:sp>
        <p:nvSpPr>
          <p:cNvPr id="17" name="V6_content_17"/>
          <p:cNvSpPr txBox="1"/>
          <p:nvPr/>
        </p:nvSpPr>
        <p:spPr>
          <a:xfrm>
            <a:off x="822960" y="3383279"/>
            <a:ext cx="507492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距离近，但可能闭馆太早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替换景点后，时间需要重算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只看去程，容易遗漏返程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8232" y="2852928"/>
            <a:ext cx="0" cy="3136392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V6_content_19"/>
          <p:cNvSpPr txBox="1"/>
          <p:nvPr/>
        </p:nvSpPr>
        <p:spPr>
          <a:xfrm>
            <a:off x="6803136" y="2862072"/>
            <a:ext cx="55778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相关方法与本课题定位</a:t>
            </a:r>
          </a:p>
        </p:txBody>
      </p:sp>
      <p:sp>
        <p:nvSpPr>
          <p:cNvPr id="20" name="V6_content_20"/>
          <p:cNvSpPr txBox="1"/>
          <p:nvPr/>
        </p:nvSpPr>
        <p:spPr>
          <a:xfrm>
            <a:off x="6803136" y="3383279"/>
            <a:ext cx="557784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景点推荐：选择想去的地方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时间窗规划：排出能执行的行程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本课题：将规划、调整与检查串联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724144"/>
            <a:ext cx="10104120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950976" y="5756148"/>
            <a:ext cx="984808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重点是可执行的行程，而不是堆叠更多平台功能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V6_footer_24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研究定位：小规模案例的工程实现与适用性验证，不宣称提出全新理论算法。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研究范围与约束边界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03 / 16</a:t>
            </a:r>
          </a:p>
        </p:txBody>
      </p:sp>
      <p:sp>
        <p:nvSpPr>
          <p:cNvPr id="15" name="V6_content_15"/>
          <p:cNvSpPr txBox="1"/>
          <p:nvPr/>
        </p:nvSpPr>
        <p:spPr>
          <a:xfrm>
            <a:off x="822960" y="2130552"/>
            <a:ext cx="278892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54A8"/>
                </a:solidFill>
                <a:latin typeface="Microsoft YaHei"/>
                <a:ea typeface="Microsoft YaHei"/>
              </a:rPr>
              <a:t>长沙及周边</a:t>
            </a:r>
          </a:p>
        </p:txBody>
      </p:sp>
      <p:sp>
        <p:nvSpPr>
          <p:cNvPr id="16" name="V6_content_16"/>
          <p:cNvSpPr txBox="1"/>
          <p:nvPr/>
        </p:nvSpPr>
        <p:spPr>
          <a:xfrm>
            <a:off x="822960" y="2834640"/>
            <a:ext cx="27614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274"/>
                </a:solidFill>
                <a:latin typeface="Microsoft YaHei"/>
                <a:ea typeface="Microsoft YaHei"/>
              </a:rPr>
              <a:t>限定案例区域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383280"/>
            <a:ext cx="2532888" cy="0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V6_content_18"/>
          <p:cNvSpPr txBox="1"/>
          <p:nvPr/>
        </p:nvSpPr>
        <p:spPr>
          <a:xfrm>
            <a:off x="3785616" y="2130552"/>
            <a:ext cx="278892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54A8"/>
                </a:solidFill>
                <a:latin typeface="Microsoft YaHei"/>
                <a:ea typeface="Microsoft YaHei"/>
              </a:rPr>
              <a:t>20—30个</a:t>
            </a:r>
          </a:p>
        </p:txBody>
      </p:sp>
      <p:sp>
        <p:nvSpPr>
          <p:cNvPr id="19" name="V6_content_19"/>
          <p:cNvSpPr txBox="1"/>
          <p:nvPr/>
        </p:nvSpPr>
        <p:spPr>
          <a:xfrm>
            <a:off x="3785616" y="2834640"/>
            <a:ext cx="27614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274"/>
                </a:solidFill>
                <a:latin typeface="Microsoft YaHei"/>
                <a:ea typeface="Microsoft YaHei"/>
              </a:rPr>
              <a:t>拟整理景点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85616" y="3383280"/>
            <a:ext cx="2532888" cy="0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V6_content_21"/>
          <p:cNvSpPr txBox="1"/>
          <p:nvPr/>
        </p:nvSpPr>
        <p:spPr>
          <a:xfrm>
            <a:off x="6748272" y="2130552"/>
            <a:ext cx="278892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54A8"/>
                </a:solidFill>
                <a:latin typeface="Microsoft YaHei"/>
                <a:ea typeface="Microsoft YaHei"/>
              </a:rPr>
              <a:t>驾车</a:t>
            </a:r>
          </a:p>
        </p:txBody>
      </p:sp>
      <p:sp>
        <p:nvSpPr>
          <p:cNvPr id="22" name="V6_content_22"/>
          <p:cNvSpPr txBox="1"/>
          <p:nvPr/>
        </p:nvSpPr>
        <p:spPr>
          <a:xfrm>
            <a:off x="6748272" y="2834640"/>
            <a:ext cx="27614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274"/>
                </a:solidFill>
                <a:latin typeface="Microsoft YaHei"/>
                <a:ea typeface="Microsoft YaHei"/>
              </a:rPr>
              <a:t>固定交通方式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48272" y="3383280"/>
            <a:ext cx="2532888" cy="0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V6_content_24"/>
          <p:cNvSpPr txBox="1"/>
          <p:nvPr/>
        </p:nvSpPr>
        <p:spPr>
          <a:xfrm>
            <a:off x="9710928" y="2130552"/>
            <a:ext cx="2788920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54A8"/>
                </a:solidFill>
                <a:latin typeface="Microsoft YaHei"/>
                <a:ea typeface="Microsoft YaHei"/>
              </a:rPr>
              <a:t>1—3日</a:t>
            </a:r>
          </a:p>
        </p:txBody>
      </p:sp>
      <p:sp>
        <p:nvSpPr>
          <p:cNvPr id="25" name="V6_content_25"/>
          <p:cNvSpPr txBox="1"/>
          <p:nvPr/>
        </p:nvSpPr>
        <p:spPr>
          <a:xfrm>
            <a:off x="9710928" y="2834640"/>
            <a:ext cx="27614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274"/>
                </a:solidFill>
                <a:latin typeface="Microsoft YaHei"/>
                <a:ea typeface="Microsoft YaHei"/>
              </a:rPr>
              <a:t>分日安排行程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10928" y="3383280"/>
            <a:ext cx="2532888" cy="0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V6_content_27"/>
          <p:cNvSpPr txBox="1"/>
          <p:nvPr/>
        </p:nvSpPr>
        <p:spPr>
          <a:xfrm>
            <a:off x="822960" y="3822191"/>
            <a:ext cx="18288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必须满足</a:t>
            </a:r>
          </a:p>
        </p:txBody>
      </p:sp>
      <p:sp>
        <p:nvSpPr>
          <p:cNvPr id="28" name="V6_content_28"/>
          <p:cNvSpPr txBox="1"/>
          <p:nvPr/>
        </p:nvSpPr>
        <p:spPr>
          <a:xfrm>
            <a:off x="2852928" y="3822191"/>
            <a:ext cx="92811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Microsoft YaHei"/>
                <a:ea typeface="Microsoft YaHei"/>
              </a:rPr>
              <a:t>每日从同一预设点出发并返回；每日非空；跨日景点不重复。</a:t>
            </a:r>
          </a:p>
        </p:txBody>
      </p:sp>
      <p:sp>
        <p:nvSpPr>
          <p:cNvPr id="29" name="V6_content_29"/>
          <p:cNvSpPr txBox="1"/>
          <p:nvPr/>
        </p:nvSpPr>
        <p:spPr>
          <a:xfrm>
            <a:off x="822960" y="4828032"/>
            <a:ext cx="18288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预算范围</a:t>
            </a:r>
          </a:p>
        </p:txBody>
      </p:sp>
      <p:sp>
        <p:nvSpPr>
          <p:cNvPr id="30" name="V6_content_30"/>
          <p:cNvSpPr txBox="1"/>
          <p:nvPr/>
        </p:nvSpPr>
        <p:spPr>
          <a:xfrm>
            <a:off x="2852928" y="4828032"/>
            <a:ext cx="92811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Microsoft YaHei"/>
                <a:ea typeface="Microsoft YaHei"/>
              </a:rPr>
              <a:t>只计算门票，不包含油费、停车费、餐饮和住宿。</a:t>
            </a:r>
          </a:p>
        </p:txBody>
      </p:sp>
      <p:sp>
        <p:nvSpPr>
          <p:cNvPr id="31" name="V6_content_31"/>
          <p:cNvSpPr txBox="1"/>
          <p:nvPr/>
        </p:nvSpPr>
        <p:spPr>
          <a:xfrm>
            <a:off x="822960" y="5833872"/>
            <a:ext cx="18288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暂不扩展</a:t>
            </a:r>
          </a:p>
        </p:txBody>
      </p:sp>
      <p:sp>
        <p:nvSpPr>
          <p:cNvPr id="32" name="V6_content_32"/>
          <p:cNvSpPr txBox="1"/>
          <p:nvPr/>
        </p:nvSpPr>
        <p:spPr>
          <a:xfrm>
            <a:off x="2852928" y="5833872"/>
            <a:ext cx="786384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Microsoft YaHei"/>
                <a:ea typeface="Microsoft YaHei"/>
              </a:rPr>
              <a:t>实时拥堵预测、住宿选址、多交通方式切换。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V6_footer_34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20—30个为计划规模；景点清单与预设出发点坐标在数据准备阶段确定。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系统功能与使用流程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04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14400" y="2587752"/>
            <a:ext cx="18196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Microsoft YaHei"/>
                <a:ea typeface="Microsoft YaHei"/>
              </a:rPr>
              <a:t>输入条件</a:t>
            </a:r>
          </a:p>
        </p:txBody>
      </p:sp>
      <p:sp>
        <p:nvSpPr>
          <p:cNvPr id="17" name="V6_content_17"/>
          <p:cNvSpPr txBox="1"/>
          <p:nvPr/>
        </p:nvSpPr>
        <p:spPr>
          <a:xfrm>
            <a:off x="923544" y="3200400"/>
            <a:ext cx="180136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日期、时间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兴趣、门票预算</a:t>
            </a:r>
          </a:p>
        </p:txBody>
      </p:sp>
      <p:sp>
        <p:nvSpPr>
          <p:cNvPr id="18" name="Chevron 17"/>
          <p:cNvSpPr/>
          <p:nvPr/>
        </p:nvSpPr>
        <p:spPr>
          <a:xfrm>
            <a:off x="2935224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1256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3310128" y="2587752"/>
            <a:ext cx="18196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Microsoft YaHei"/>
                <a:ea typeface="Microsoft YaHei"/>
              </a:rPr>
              <a:t>生成行程</a:t>
            </a:r>
          </a:p>
        </p:txBody>
      </p:sp>
      <p:sp>
        <p:nvSpPr>
          <p:cNvPr id="21" name="V6_content_21"/>
          <p:cNvSpPr txBox="1"/>
          <p:nvPr/>
        </p:nvSpPr>
        <p:spPr>
          <a:xfrm>
            <a:off x="3319272" y="3200400"/>
            <a:ext cx="180136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筛选候选景点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构造分日路线</a:t>
            </a:r>
          </a:p>
        </p:txBody>
      </p:sp>
      <p:sp>
        <p:nvSpPr>
          <p:cNvPr id="22" name="Chevron 21"/>
          <p:cNvSpPr/>
          <p:nvPr/>
        </p:nvSpPr>
        <p:spPr>
          <a:xfrm>
            <a:off x="5330952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5705856" y="2587752"/>
            <a:ext cx="18196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Microsoft YaHei"/>
                <a:ea typeface="Microsoft YaHei"/>
              </a:rPr>
              <a:t>交互调整</a:t>
            </a:r>
          </a:p>
        </p:txBody>
      </p:sp>
      <p:sp>
        <p:nvSpPr>
          <p:cNvPr id="25" name="V6_content_25"/>
          <p:cNvSpPr txBox="1"/>
          <p:nvPr/>
        </p:nvSpPr>
        <p:spPr>
          <a:xfrm>
            <a:off x="5715000" y="3200400"/>
            <a:ext cx="180136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替换景点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调整同日顺序</a:t>
            </a:r>
          </a:p>
        </p:txBody>
      </p:sp>
      <p:sp>
        <p:nvSpPr>
          <p:cNvPr id="26" name="Chevron 25"/>
          <p:cNvSpPr/>
          <p:nvPr/>
        </p:nvSpPr>
        <p:spPr>
          <a:xfrm>
            <a:off x="7726679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82712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8101584" y="2587752"/>
            <a:ext cx="18196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Microsoft YaHei"/>
                <a:ea typeface="Microsoft YaHei"/>
              </a:rPr>
              <a:t>重新检查</a:t>
            </a:r>
          </a:p>
        </p:txBody>
      </p:sp>
      <p:sp>
        <p:nvSpPr>
          <p:cNvPr id="29" name="V6_content_29"/>
          <p:cNvSpPr txBox="1"/>
          <p:nvPr/>
        </p:nvSpPr>
        <p:spPr>
          <a:xfrm>
            <a:off x="8110728" y="3200400"/>
            <a:ext cx="180136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时间、返程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预算、不重复</a:t>
            </a:r>
          </a:p>
        </p:txBody>
      </p:sp>
      <p:sp>
        <p:nvSpPr>
          <p:cNvPr id="30" name="Chevron 29"/>
          <p:cNvSpPr/>
          <p:nvPr/>
        </p:nvSpPr>
        <p:spPr>
          <a:xfrm>
            <a:off x="10122408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78440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6_content_32"/>
          <p:cNvSpPr txBox="1"/>
          <p:nvPr/>
        </p:nvSpPr>
        <p:spPr>
          <a:xfrm>
            <a:off x="10497312" y="2587752"/>
            <a:ext cx="181965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Microsoft YaHei"/>
                <a:ea typeface="Microsoft YaHei"/>
              </a:rPr>
              <a:t>保存展示</a:t>
            </a:r>
          </a:p>
        </p:txBody>
      </p:sp>
      <p:sp>
        <p:nvSpPr>
          <p:cNvPr id="33" name="V6_content_33"/>
          <p:cNvSpPr txBox="1"/>
          <p:nvPr/>
        </p:nvSpPr>
        <p:spPr>
          <a:xfrm>
            <a:off x="10506456" y="3200400"/>
            <a:ext cx="180136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分日时间表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地图访问顺序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937760"/>
            <a:ext cx="1993392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6_content_35"/>
          <p:cNvSpPr txBox="1"/>
          <p:nvPr/>
        </p:nvSpPr>
        <p:spPr>
          <a:xfrm>
            <a:off x="950976" y="4969764"/>
            <a:ext cx="17373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管理员支撑</a:t>
            </a:r>
          </a:p>
        </p:txBody>
      </p:sp>
      <p:sp>
        <p:nvSpPr>
          <p:cNvPr id="36" name="V6_content_36"/>
          <p:cNvSpPr txBox="1"/>
          <p:nvPr/>
        </p:nvSpPr>
        <p:spPr>
          <a:xfrm>
            <a:off x="3099816" y="4974336"/>
            <a:ext cx="91440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Microsoft YaHei"/>
                <a:ea typeface="Microsoft YaHei"/>
              </a:rPr>
              <a:t>账号权限  ·  景点与基础数据  ·  异常记录  ·  规划统计</a:t>
            </a:r>
          </a:p>
        </p:txBody>
      </p:sp>
      <p:sp>
        <p:nvSpPr>
          <p:cNvPr id="37" name="V6_content_37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3F80"/>
                </a:solidFill>
                <a:latin typeface="Microsoft YaHei"/>
                <a:ea typeface="Microsoft YaHei"/>
              </a:rPr>
              <a:t>核心原则：有冲突先提示，重新校验通过后再保存。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V6_footer_39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按操作流程概括，非删减功能；报告十模块完整结构见备查第14页。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时间约束怎样检查：一个虚拟算例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05 / 16</a:t>
            </a:r>
          </a:p>
        </p:txBody>
      </p:sp>
      <p:sp>
        <p:nvSpPr>
          <p:cNvPr id="15" name="V6_content_15"/>
          <p:cNvSpPr txBox="1"/>
          <p:nvPr/>
        </p:nvSpPr>
        <p:spPr>
          <a:xfrm>
            <a:off x="822960" y="1993392"/>
            <a:ext cx="11567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Microsoft YaHei"/>
                <a:ea typeface="Microsoft YaHei"/>
              </a:rPr>
              <a:t>条件：09:00—13:00可用；A在10:00开放；B在12:30闭馆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62072"/>
            <a:ext cx="1533698" cy="1005840"/>
          </a:xfrm>
          <a:prstGeom prst="rect">
            <a:avLst/>
          </a:prstGeom>
          <a:solidFill>
            <a:srgbClr val="0054A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6_content_17"/>
          <p:cNvSpPr txBox="1"/>
          <p:nvPr/>
        </p:nvSpPr>
        <p:spPr>
          <a:xfrm>
            <a:off x="859536" y="3026664"/>
            <a:ext cx="146054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去程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30分钟</a:t>
            </a:r>
          </a:p>
        </p:txBody>
      </p:sp>
      <p:sp>
        <p:nvSpPr>
          <p:cNvPr id="18" name="V6_content_18"/>
          <p:cNvSpPr txBox="1"/>
          <p:nvPr/>
        </p:nvSpPr>
        <p:spPr>
          <a:xfrm>
            <a:off x="676656" y="4041648"/>
            <a:ext cx="90525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Microsoft YaHei"/>
                <a:ea typeface="Microsoft YaHei"/>
              </a:rPr>
              <a:t>09:00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6658" y="2862072"/>
            <a:ext cx="1533698" cy="1005840"/>
          </a:xfrm>
          <a:prstGeom prst="rect">
            <a:avLst/>
          </a:prstGeom>
          <a:solidFill>
            <a:srgbClr val="849CB5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2393234" y="3026664"/>
            <a:ext cx="146054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等待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30分钟</a:t>
            </a:r>
          </a:p>
        </p:txBody>
      </p:sp>
      <p:sp>
        <p:nvSpPr>
          <p:cNvPr id="21" name="V6_content_21"/>
          <p:cNvSpPr txBox="1"/>
          <p:nvPr/>
        </p:nvSpPr>
        <p:spPr>
          <a:xfrm>
            <a:off x="2210354" y="4041648"/>
            <a:ext cx="90525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Microsoft YaHei"/>
                <a:ea typeface="Microsoft YaHei"/>
              </a:rPr>
              <a:t>09:30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90356" y="2862072"/>
            <a:ext cx="3067396" cy="1005840"/>
          </a:xfrm>
          <a:prstGeom prst="rect">
            <a:avLst/>
          </a:prstGeom>
          <a:solidFill>
            <a:srgbClr val="E8F0F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6_content_23"/>
          <p:cNvSpPr txBox="1"/>
          <p:nvPr/>
        </p:nvSpPr>
        <p:spPr>
          <a:xfrm>
            <a:off x="3926932" y="3026664"/>
            <a:ext cx="299424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3F80"/>
                </a:solidFill>
                <a:latin typeface="Microsoft YaHei"/>
                <a:ea typeface="Microsoft YaHei"/>
              </a:rPr>
              <a:t>游玩A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3F80"/>
                </a:solidFill>
                <a:latin typeface="Microsoft YaHei"/>
                <a:ea typeface="Microsoft YaHei"/>
              </a:rPr>
              <a:t>60分钟</a:t>
            </a:r>
          </a:p>
        </p:txBody>
      </p:sp>
      <p:sp>
        <p:nvSpPr>
          <p:cNvPr id="24" name="V6_content_24"/>
          <p:cNvSpPr txBox="1"/>
          <p:nvPr/>
        </p:nvSpPr>
        <p:spPr>
          <a:xfrm>
            <a:off x="3744052" y="4041648"/>
            <a:ext cx="90525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Microsoft YaHei"/>
                <a:ea typeface="Microsoft YaHei"/>
              </a:rPr>
              <a:t>10:00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57752" y="2862072"/>
            <a:ext cx="1022465" cy="1005840"/>
          </a:xfrm>
          <a:prstGeom prst="rect">
            <a:avLst/>
          </a:prstGeom>
          <a:solidFill>
            <a:srgbClr val="0054A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6_content_26"/>
          <p:cNvSpPr txBox="1"/>
          <p:nvPr/>
        </p:nvSpPr>
        <p:spPr>
          <a:xfrm>
            <a:off x="6994328" y="3026664"/>
            <a:ext cx="949313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景间交通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20分钟</a:t>
            </a:r>
          </a:p>
        </p:txBody>
      </p:sp>
      <p:sp>
        <p:nvSpPr>
          <p:cNvPr id="27" name="V6_content_27"/>
          <p:cNvSpPr txBox="1"/>
          <p:nvPr/>
        </p:nvSpPr>
        <p:spPr>
          <a:xfrm>
            <a:off x="6811448" y="4041648"/>
            <a:ext cx="90525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Microsoft YaHei"/>
                <a:ea typeface="Microsoft YaHei"/>
              </a:rPr>
              <a:t>11:00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0218" y="2862072"/>
            <a:ext cx="2044930" cy="1005840"/>
          </a:xfrm>
          <a:prstGeom prst="rect">
            <a:avLst/>
          </a:prstGeom>
          <a:solidFill>
            <a:srgbClr val="E8F0F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6_content_29"/>
          <p:cNvSpPr txBox="1"/>
          <p:nvPr/>
        </p:nvSpPr>
        <p:spPr>
          <a:xfrm>
            <a:off x="8016794" y="3026664"/>
            <a:ext cx="197177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3F80"/>
                </a:solidFill>
                <a:latin typeface="Microsoft YaHei"/>
                <a:ea typeface="Microsoft YaHei"/>
              </a:rPr>
              <a:t>游玩B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3F80"/>
                </a:solidFill>
                <a:latin typeface="Microsoft YaHei"/>
                <a:ea typeface="Microsoft YaHei"/>
              </a:rPr>
              <a:t>40分钟</a:t>
            </a:r>
          </a:p>
        </p:txBody>
      </p:sp>
      <p:sp>
        <p:nvSpPr>
          <p:cNvPr id="30" name="V6_content_30"/>
          <p:cNvSpPr txBox="1"/>
          <p:nvPr/>
        </p:nvSpPr>
        <p:spPr>
          <a:xfrm>
            <a:off x="7833914" y="4041648"/>
            <a:ext cx="90525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Microsoft YaHei"/>
                <a:ea typeface="Microsoft YaHei"/>
              </a:rPr>
              <a:t>11:20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25149" y="2862072"/>
            <a:ext cx="2044930" cy="1005840"/>
          </a:xfrm>
          <a:prstGeom prst="rect">
            <a:avLst/>
          </a:prstGeom>
          <a:solidFill>
            <a:srgbClr val="0054A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6_content_32"/>
          <p:cNvSpPr txBox="1"/>
          <p:nvPr/>
        </p:nvSpPr>
        <p:spPr>
          <a:xfrm>
            <a:off x="10061725" y="3026664"/>
            <a:ext cx="197177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返程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40分钟</a:t>
            </a:r>
          </a:p>
        </p:txBody>
      </p:sp>
      <p:sp>
        <p:nvSpPr>
          <p:cNvPr id="33" name="V6_content_33"/>
          <p:cNvSpPr txBox="1"/>
          <p:nvPr/>
        </p:nvSpPr>
        <p:spPr>
          <a:xfrm>
            <a:off x="9878845" y="4041648"/>
            <a:ext cx="90525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Microsoft YaHei"/>
                <a:ea typeface="Microsoft YaHei"/>
              </a:rPr>
              <a:t>12:00</a:t>
            </a:r>
          </a:p>
        </p:txBody>
      </p:sp>
      <p:sp>
        <p:nvSpPr>
          <p:cNvPr id="34" name="V6_content_34"/>
          <p:cNvSpPr txBox="1"/>
          <p:nvPr/>
        </p:nvSpPr>
        <p:spPr>
          <a:xfrm>
            <a:off x="11594592" y="4041648"/>
            <a:ext cx="1005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Microsoft YaHei"/>
                <a:ea typeface="Microsoft YaHei"/>
              </a:rPr>
              <a:t>12:40</a:t>
            </a:r>
          </a:p>
        </p:txBody>
      </p:sp>
      <p:sp>
        <p:nvSpPr>
          <p:cNvPr id="35" name="V6_content_35"/>
          <p:cNvSpPr txBox="1"/>
          <p:nvPr/>
        </p:nvSpPr>
        <p:spPr>
          <a:xfrm>
            <a:off x="822960" y="4663440"/>
            <a:ext cx="52120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54A8"/>
                </a:solidFill>
                <a:latin typeface="Microsoft YaHei"/>
                <a:ea typeface="Microsoft YaHei"/>
              </a:rPr>
              <a:t>总耗时 220分钟</a:t>
            </a:r>
          </a:p>
        </p:txBody>
      </p:sp>
      <p:sp>
        <p:nvSpPr>
          <p:cNvPr id="36" name="V6_content_36"/>
          <p:cNvSpPr txBox="1"/>
          <p:nvPr/>
        </p:nvSpPr>
        <p:spPr>
          <a:xfrm>
            <a:off x="822960" y="5431536"/>
            <a:ext cx="10789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Microsoft YaHei"/>
                <a:ea typeface="Microsoft YaHei"/>
              </a:rPr>
              <a:t>不是只算开车和游玩，还包括等待与返程</a:t>
            </a:r>
          </a:p>
        </p:txBody>
      </p:sp>
      <p:sp>
        <p:nvSpPr>
          <p:cNvPr id="37" name="V6_content_37"/>
          <p:cNvSpPr txBox="1"/>
          <p:nvPr/>
        </p:nvSpPr>
        <p:spPr>
          <a:xfrm>
            <a:off x="822960" y="6016752"/>
            <a:ext cx="102412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检查：B游玩结束12:00 ≤ 12:30；返回12:40 ≤ 13:00；门票40+30 ≤ 80元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V6_footer_39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虚拟教学算例：A、B、时间和票价均用于解释规则，不是真实景点数据或实验结果。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技术路线与系统架构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06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011680"/>
            <a:ext cx="7735824" cy="70408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87552" y="2176272"/>
            <a:ext cx="2084831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浏览器界面</a:t>
            </a:r>
          </a:p>
        </p:txBody>
      </p:sp>
      <p:sp>
        <p:nvSpPr>
          <p:cNvPr id="17" name="V6_content_17"/>
          <p:cNvSpPr txBox="1"/>
          <p:nvPr/>
        </p:nvSpPr>
        <p:spPr>
          <a:xfrm>
            <a:off x="3227832" y="2185416"/>
            <a:ext cx="5102352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Django模板 + Bootstrap + JavaScript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944368"/>
            <a:ext cx="7735824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6_content_19"/>
          <p:cNvSpPr txBox="1"/>
          <p:nvPr/>
        </p:nvSpPr>
        <p:spPr>
          <a:xfrm>
            <a:off x="987552" y="3108960"/>
            <a:ext cx="2084831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Django业务层</a:t>
            </a:r>
          </a:p>
        </p:txBody>
      </p:sp>
      <p:sp>
        <p:nvSpPr>
          <p:cNvPr id="20" name="V6_content_20"/>
          <p:cNvSpPr txBox="1"/>
          <p:nvPr/>
        </p:nvSpPr>
        <p:spPr>
          <a:xfrm>
            <a:off x="3227832" y="3118104"/>
            <a:ext cx="5102352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用户请求、Auth权限、Admin维护、ORM数据访问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877056"/>
            <a:ext cx="7735824" cy="70408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987552" y="4041648"/>
            <a:ext cx="2084831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独立Python算法</a:t>
            </a:r>
          </a:p>
        </p:txBody>
      </p:sp>
      <p:sp>
        <p:nvSpPr>
          <p:cNvPr id="23" name="V6_content_23"/>
          <p:cNvSpPr txBox="1"/>
          <p:nvPr/>
        </p:nvSpPr>
        <p:spPr>
          <a:xfrm>
            <a:off x="3227832" y="4050792"/>
            <a:ext cx="5102352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候选筛选 → 路线构造 → 局部调整 → 完整约束检查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809744"/>
            <a:ext cx="7735824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6_content_25"/>
          <p:cNvSpPr txBox="1"/>
          <p:nvPr/>
        </p:nvSpPr>
        <p:spPr>
          <a:xfrm>
            <a:off x="987552" y="4974336"/>
            <a:ext cx="2084831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SQLite数据</a:t>
            </a:r>
          </a:p>
        </p:txBody>
      </p:sp>
      <p:sp>
        <p:nvSpPr>
          <p:cNvPr id="26" name="V6_content_26"/>
          <p:cNvSpPr txBox="1"/>
          <p:nvPr/>
        </p:nvSpPr>
        <p:spPr>
          <a:xfrm>
            <a:off x="3227832" y="4983480"/>
            <a:ext cx="5102352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景点、预设点、交通矩阵、行程、规划记录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33688" y="1993392"/>
            <a:ext cx="0" cy="3520440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V6_content_28"/>
          <p:cNvSpPr txBox="1"/>
          <p:nvPr/>
        </p:nvSpPr>
        <p:spPr>
          <a:xfrm>
            <a:off x="9253728" y="2221992"/>
            <a:ext cx="298094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54A8"/>
                </a:solidFill>
                <a:latin typeface="Microsoft YaHei"/>
                <a:ea typeface="Microsoft YaHei"/>
              </a:rPr>
              <a:t>腾讯地图</a:t>
            </a:r>
          </a:p>
        </p:txBody>
      </p:sp>
      <p:sp>
        <p:nvSpPr>
          <p:cNvPr id="29" name="V6_content_29"/>
          <p:cNvSpPr txBox="1"/>
          <p:nvPr/>
        </p:nvSpPr>
        <p:spPr>
          <a:xfrm>
            <a:off x="9253728" y="2880360"/>
            <a:ext cx="2990088" cy="1819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显示出发点、景点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与访问顺序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不替代后端约束计算</a:t>
            </a:r>
          </a:p>
        </p:txBody>
      </p:sp>
      <p:sp>
        <p:nvSpPr>
          <p:cNvPr id="30" name="V6_content_30"/>
          <p:cNvSpPr txBox="1"/>
          <p:nvPr/>
        </p:nvSpPr>
        <p:spPr>
          <a:xfrm>
            <a:off x="822960" y="5989320"/>
            <a:ext cx="102412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3F80"/>
                </a:solidFill>
                <a:latin typeface="Microsoft YaHei"/>
                <a:ea typeface="Microsoft YaHei"/>
              </a:rPr>
              <a:t>文字结果先独立输出，地图加载失败时仍保留已经生成的行程。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V6_footer_32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架构为设计方案；复用基础组件，把主要开发时间放在路线计算、检查和测试。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数据来源与交通矩阵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07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148840"/>
            <a:ext cx="1874519" cy="521207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32688" y="2221992"/>
            <a:ext cx="1655063" cy="4023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2148840"/>
            <a:ext cx="5852160" cy="521207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6_content_18"/>
          <p:cNvSpPr txBox="1"/>
          <p:nvPr/>
        </p:nvSpPr>
        <p:spPr>
          <a:xfrm>
            <a:off x="2807208" y="2221992"/>
            <a:ext cx="5632704" cy="4023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计划来源 / 内容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2148840"/>
            <a:ext cx="3703320" cy="521207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8659367" y="2221992"/>
            <a:ext cx="3483863" cy="4023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控制要求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670048"/>
            <a:ext cx="1874519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932688" y="2779776"/>
            <a:ext cx="1655063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Microsoft YaHei"/>
                <a:ea typeface="Microsoft YaHei"/>
              </a:rPr>
              <a:t>景点资料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2670048"/>
            <a:ext cx="5852160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2807208" y="2779776"/>
            <a:ext cx="5632704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景区或文旅部门公开资料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49640" y="2670048"/>
            <a:ext cx="3703320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6_content_26"/>
          <p:cNvSpPr txBox="1"/>
          <p:nvPr/>
        </p:nvSpPr>
        <p:spPr>
          <a:xfrm>
            <a:off x="8659367" y="2779776"/>
            <a:ext cx="3483863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记录来源与采集日期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447288"/>
            <a:ext cx="1874519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932688" y="3557016"/>
            <a:ext cx="1655063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Microsoft YaHei"/>
                <a:ea typeface="Microsoft YaHei"/>
              </a:rPr>
              <a:t>交通矩阵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3447288"/>
            <a:ext cx="5852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6_content_30"/>
          <p:cNvSpPr txBox="1"/>
          <p:nvPr/>
        </p:nvSpPr>
        <p:spPr>
          <a:xfrm>
            <a:off x="2807208" y="3557016"/>
            <a:ext cx="5632704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有方向的驾车距离与耗时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49640" y="3447288"/>
            <a:ext cx="3703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6_content_32"/>
          <p:cNvSpPr txBox="1"/>
          <p:nvPr/>
        </p:nvSpPr>
        <p:spPr>
          <a:xfrm>
            <a:off x="8659367" y="3557016"/>
            <a:ext cx="3483863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包含出发点去程、返程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224528"/>
            <a:ext cx="1874519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6_content_34"/>
          <p:cNvSpPr txBox="1"/>
          <p:nvPr/>
        </p:nvSpPr>
        <p:spPr>
          <a:xfrm>
            <a:off x="932688" y="4334256"/>
            <a:ext cx="1655063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Microsoft YaHei"/>
                <a:ea typeface="Microsoft YaHei"/>
              </a:rPr>
              <a:t>实验数据版本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4224528"/>
            <a:ext cx="5852160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6_content_36"/>
          <p:cNvSpPr txBox="1"/>
          <p:nvPr/>
        </p:nvSpPr>
        <p:spPr>
          <a:xfrm>
            <a:off x="2807208" y="4334256"/>
            <a:ext cx="5632704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同批算法使用同一矩阵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4224528"/>
            <a:ext cx="3703320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6_content_38"/>
          <p:cNvSpPr txBox="1"/>
          <p:nvPr/>
        </p:nvSpPr>
        <p:spPr>
          <a:xfrm>
            <a:off x="8659367" y="4334256"/>
            <a:ext cx="3483863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固定版本，不随意混源</a:t>
            </a:r>
          </a:p>
        </p:txBody>
      </p:sp>
      <p:sp>
        <p:nvSpPr>
          <p:cNvPr id="39" name="V6_content_39"/>
          <p:cNvSpPr txBox="1"/>
          <p:nvPr/>
        </p:nvSpPr>
        <p:spPr>
          <a:xfrm>
            <a:off x="822960" y="5239512"/>
            <a:ext cx="1088136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Microsoft YaHei"/>
                <a:ea typeface="Microsoft YaHei"/>
              </a:rPr>
              <a:t>取得平台数据前：核对授权、配额和存储规则。</a:t>
            </a:r>
          </a:p>
        </p:txBody>
      </p:sp>
      <p:sp>
        <p:nvSpPr>
          <p:cNvPr id="40" name="V6_content_40"/>
          <p:cNvSpPr txBox="1"/>
          <p:nvPr/>
        </p:nvSpPr>
        <p:spPr>
          <a:xfrm>
            <a:off x="822960" y="5916168"/>
            <a:ext cx="101498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若不可得：统一使用明确标注的模拟矩阵；不解释为真实道路可达性验证。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V6_footer_42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矩阵是采集时段下的估计值，不含实时拥堵预测；名单、坐标和使用权限仍需落实。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路线算法：先构造，再局部调整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08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32688" y="2414016"/>
            <a:ext cx="2432304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Microsoft YaHei"/>
                <a:ea typeface="Microsoft YaHei"/>
              </a:rPr>
              <a:t>1 筛选</a:t>
            </a:r>
          </a:p>
        </p:txBody>
      </p:sp>
      <p:sp>
        <p:nvSpPr>
          <p:cNvPr id="17" name="V6_content_17"/>
          <p:cNvSpPr txBox="1"/>
          <p:nvPr/>
        </p:nvSpPr>
        <p:spPr>
          <a:xfrm>
            <a:off x="932688" y="3017520"/>
            <a:ext cx="2432304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排除无效景点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保留候选集合</a:t>
            </a:r>
          </a:p>
        </p:txBody>
      </p:sp>
      <p:sp>
        <p:nvSpPr>
          <p:cNvPr id="18" name="Chevron 17"/>
          <p:cNvSpPr/>
          <p:nvPr/>
        </p:nvSpPr>
        <p:spPr>
          <a:xfrm>
            <a:off x="3575303" y="2862072"/>
            <a:ext cx="164592" cy="329184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0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3950208" y="2414016"/>
            <a:ext cx="2432304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Microsoft YaHei"/>
                <a:ea typeface="Microsoft YaHei"/>
              </a:rPr>
              <a:t>2 贪心构造</a:t>
            </a:r>
          </a:p>
        </p:txBody>
      </p:sp>
      <p:sp>
        <p:nvSpPr>
          <p:cNvPr id="21" name="V6_content_21"/>
          <p:cNvSpPr txBox="1"/>
          <p:nvPr/>
        </p:nvSpPr>
        <p:spPr>
          <a:xfrm>
            <a:off x="3950208" y="3017520"/>
            <a:ext cx="2432304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收益 ÷ 新增分钟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每次预留返程</a:t>
            </a:r>
          </a:p>
        </p:txBody>
      </p:sp>
      <p:sp>
        <p:nvSpPr>
          <p:cNvPr id="22" name="Chevron 21"/>
          <p:cNvSpPr/>
          <p:nvPr/>
        </p:nvSpPr>
        <p:spPr>
          <a:xfrm>
            <a:off x="6592824" y="2862072"/>
            <a:ext cx="164592" cy="329184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6967728" y="2414016"/>
            <a:ext cx="2432304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Microsoft YaHei"/>
                <a:ea typeface="Microsoft YaHei"/>
              </a:rPr>
              <a:t>3 局部搜索</a:t>
            </a:r>
          </a:p>
        </p:txBody>
      </p:sp>
      <p:sp>
        <p:nvSpPr>
          <p:cNvPr id="25" name="V6_content_25"/>
          <p:cNvSpPr txBox="1"/>
          <p:nvPr/>
        </p:nvSpPr>
        <p:spPr>
          <a:xfrm>
            <a:off x="6967728" y="3017520"/>
            <a:ext cx="2432304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交换、插入、替换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删除后再插入</a:t>
            </a:r>
          </a:p>
        </p:txBody>
      </p:sp>
      <p:sp>
        <p:nvSpPr>
          <p:cNvPr id="26" name="Chevron 25"/>
          <p:cNvSpPr/>
          <p:nvPr/>
        </p:nvSpPr>
        <p:spPr>
          <a:xfrm>
            <a:off x="9610344" y="2862072"/>
            <a:ext cx="164592" cy="329184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19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9985247" y="2414016"/>
            <a:ext cx="2432304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Microsoft YaHei"/>
                <a:ea typeface="Microsoft YaHei"/>
              </a:rPr>
              <a:t>4 完整复核</a:t>
            </a:r>
          </a:p>
        </p:txBody>
      </p:sp>
      <p:sp>
        <p:nvSpPr>
          <p:cNvPr id="29" name="V6_content_29"/>
          <p:cNvSpPr txBox="1"/>
          <p:nvPr/>
        </p:nvSpPr>
        <p:spPr>
          <a:xfrm>
            <a:off x="9985247" y="3017520"/>
            <a:ext cx="2432304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检查全部硬约束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接受改进方案</a:t>
            </a:r>
          </a:p>
        </p:txBody>
      </p:sp>
      <p:sp>
        <p:nvSpPr>
          <p:cNvPr id="30" name="V6_content_30"/>
          <p:cNvSpPr txBox="1"/>
          <p:nvPr/>
        </p:nvSpPr>
        <p:spPr>
          <a:xfrm>
            <a:off x="822960" y="4370832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Microsoft YaHei"/>
                <a:ea typeface="Microsoft YaHei"/>
              </a:rPr>
              <a:t>收益：uᵢ = 1 + mᵢ；mᵢ表示用户兴趣标签的匹配比例。</a:t>
            </a:r>
          </a:p>
        </p:txBody>
      </p:sp>
      <p:sp>
        <p:nvSpPr>
          <p:cNvPr id="31" name="V6_content_31"/>
          <p:cNvSpPr txBox="1"/>
          <p:nvPr/>
        </p:nvSpPr>
        <p:spPr>
          <a:xfrm>
            <a:off x="822960" y="5065776"/>
            <a:ext cx="112471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Microsoft YaHei"/>
                <a:ea typeface="Microsoft YaHei"/>
              </a:rPr>
              <a:t>接受顺序：总收益更高 → 同收益时交通更短 → 再同分时门票更低。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934456"/>
            <a:ext cx="10058400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6_content_33"/>
          <p:cNvSpPr txBox="1"/>
          <p:nvPr/>
        </p:nvSpPr>
        <p:spPr>
          <a:xfrm>
            <a:off x="950976" y="5966460"/>
            <a:ext cx="980236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拟定停止条件：最多100轮，或完整一轮无改进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V6_footer_35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工程评分不等于真实满意度；不保证全局最优；未搜索到行程不能证明所有安排均无解。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如何验证：四方案、十五组场景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09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020824"/>
            <a:ext cx="11247120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50976" y="2052828"/>
            <a:ext cx="1099108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15组常规场景：一日、二日、三日各5组</a:t>
            </a:r>
          </a:p>
        </p:txBody>
      </p:sp>
      <p:sp>
        <p:nvSpPr>
          <p:cNvPr id="17" name="V6_content_17"/>
          <p:cNvSpPr txBox="1"/>
          <p:nvPr/>
        </p:nvSpPr>
        <p:spPr>
          <a:xfrm>
            <a:off x="822960" y="2724912"/>
            <a:ext cx="111556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274"/>
                </a:solidFill>
                <a:latin typeface="Microsoft YaHei"/>
                <a:ea typeface="Microsoft YaHei"/>
              </a:rPr>
              <a:t>先人工给出至少一条可行参考安排，再固定实验条件。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419856"/>
            <a:ext cx="2651760" cy="85039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6_content_19"/>
          <p:cNvSpPr txBox="1"/>
          <p:nvPr/>
        </p:nvSpPr>
        <p:spPr>
          <a:xfrm>
            <a:off x="914400" y="3639312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54A8"/>
                </a:solidFill>
                <a:latin typeface="Microsoft YaHei"/>
                <a:ea typeface="Microsoft YaHei"/>
              </a:rPr>
              <a:t>时间窗贪心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419856"/>
            <a:ext cx="2651760" cy="85039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6_content_21"/>
          <p:cNvSpPr txBox="1"/>
          <p:nvPr/>
        </p:nvSpPr>
        <p:spPr>
          <a:xfrm>
            <a:off x="3931920" y="3639312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54A8"/>
                </a:solidFill>
                <a:latin typeface="Microsoft YaHei"/>
                <a:ea typeface="Microsoft YaHei"/>
              </a:rPr>
              <a:t>驾车距离优先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419856"/>
            <a:ext cx="2651760" cy="85039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6_content_23"/>
          <p:cNvSpPr txBox="1"/>
          <p:nvPr/>
        </p:nvSpPr>
        <p:spPr>
          <a:xfrm>
            <a:off x="6949440" y="3639312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54A8"/>
                </a:solidFill>
                <a:latin typeface="Microsoft YaHei"/>
                <a:ea typeface="Microsoft YaHei"/>
              </a:rPr>
              <a:t>兴趣优先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19" y="3419856"/>
            <a:ext cx="2651760" cy="85039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6_content_25"/>
          <p:cNvSpPr txBox="1"/>
          <p:nvPr/>
        </p:nvSpPr>
        <p:spPr>
          <a:xfrm>
            <a:off x="9966959" y="3639312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54A8"/>
                </a:solidFill>
                <a:latin typeface="Microsoft YaHei"/>
                <a:ea typeface="Microsoft YaHei"/>
              </a:rPr>
              <a:t>贪心 + 局部搜索</a:t>
            </a:r>
          </a:p>
        </p:txBody>
      </p:sp>
      <p:sp>
        <p:nvSpPr>
          <p:cNvPr id="26" name="V6_content_26"/>
          <p:cNvSpPr txBox="1"/>
          <p:nvPr/>
        </p:nvSpPr>
        <p:spPr>
          <a:xfrm>
            <a:off x="822960" y="4663440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统一条件</a:t>
            </a:r>
          </a:p>
        </p:txBody>
      </p:sp>
      <p:sp>
        <p:nvSpPr>
          <p:cNvPr id="27" name="V6_content_27"/>
          <p:cNvSpPr txBox="1"/>
          <p:nvPr/>
        </p:nvSpPr>
        <p:spPr>
          <a:xfrm>
            <a:off x="2834640" y="4663440"/>
            <a:ext cx="93268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Microsoft YaHei"/>
                <a:ea typeface="Microsoft YaHei"/>
              </a:rPr>
              <a:t>候选集、出发点、日期、矩阵版本、硬约束与指标</a:t>
            </a:r>
          </a:p>
        </p:txBody>
      </p:sp>
      <p:sp>
        <p:nvSpPr>
          <p:cNvPr id="28" name="V6_content_28"/>
          <p:cNvSpPr txBox="1"/>
          <p:nvPr/>
        </p:nvSpPr>
        <p:spPr>
          <a:xfrm>
            <a:off x="822960" y="5394960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比较指标</a:t>
            </a:r>
          </a:p>
        </p:txBody>
      </p:sp>
      <p:sp>
        <p:nvSpPr>
          <p:cNvPr id="29" name="V6_content_29"/>
          <p:cNvSpPr txBox="1"/>
          <p:nvPr/>
        </p:nvSpPr>
        <p:spPr>
          <a:xfrm>
            <a:off x="2834640" y="5394960"/>
            <a:ext cx="90525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Microsoft YaHei"/>
                <a:ea typeface="Microsoft YaHei"/>
              </a:rPr>
              <a:t>可行率、景点数、耗时、门票、匹配度、计算时间</a:t>
            </a:r>
          </a:p>
        </p:txBody>
      </p:sp>
      <p:sp>
        <p:nvSpPr>
          <p:cNvPr id="30" name="V6_content_30"/>
          <p:cNvSpPr txBox="1"/>
          <p:nvPr/>
        </p:nvSpPr>
        <p:spPr>
          <a:xfrm>
            <a:off x="822960" y="6172200"/>
            <a:ext cx="10104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3F80"/>
                </a:solidFill>
                <a:latin typeface="Microsoft YaHei"/>
                <a:ea typeface="Microsoft YaHei"/>
              </a:rPr>
              <a:t>每组计时5次取中位数；路线质量仍按15个独立场景计数。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V6_footer_32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以上为计划，尚无实测结果；输入错误、系统异常和已知不可行情形另作功能测试。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规划统计：失败也要分清楚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10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103120"/>
            <a:ext cx="2651760" cy="1261872"/>
          </a:xfrm>
          <a:prstGeom prst="rect">
            <a:avLst/>
          </a:prstGeom>
          <a:solidFill>
            <a:srgbClr val="EEF0F3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14400" y="2359152"/>
            <a:ext cx="24688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Microsoft YaHei"/>
                <a:ea typeface="Microsoft YaHei"/>
              </a:rPr>
              <a:t>输入错误</a:t>
            </a:r>
          </a:p>
        </p:txBody>
      </p:sp>
      <p:sp>
        <p:nvSpPr>
          <p:cNvPr id="17" name="V6_content_17"/>
          <p:cNvSpPr txBox="1"/>
          <p:nvPr/>
        </p:nvSpPr>
        <p:spPr>
          <a:xfrm>
            <a:off x="932688" y="2871216"/>
            <a:ext cx="243230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274"/>
                </a:solidFill>
                <a:latin typeface="Microsoft YaHei"/>
                <a:ea typeface="Microsoft YaHei"/>
              </a:rPr>
              <a:t>单列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103120"/>
            <a:ext cx="2651760" cy="1261872"/>
          </a:xfrm>
          <a:prstGeom prst="rect">
            <a:avLst/>
          </a:prstGeom>
          <a:solidFill>
            <a:srgbClr val="EEF0F3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6_content_19"/>
          <p:cNvSpPr txBox="1"/>
          <p:nvPr/>
        </p:nvSpPr>
        <p:spPr>
          <a:xfrm>
            <a:off x="3931920" y="2359152"/>
            <a:ext cx="24688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Microsoft YaHei"/>
                <a:ea typeface="Microsoft YaHei"/>
              </a:rPr>
              <a:t>系统异常</a:t>
            </a:r>
          </a:p>
        </p:txBody>
      </p:sp>
      <p:sp>
        <p:nvSpPr>
          <p:cNvPr id="20" name="V6_content_20"/>
          <p:cNvSpPr txBox="1"/>
          <p:nvPr/>
        </p:nvSpPr>
        <p:spPr>
          <a:xfrm>
            <a:off x="3950208" y="2871216"/>
            <a:ext cx="243230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274"/>
                </a:solidFill>
                <a:latin typeface="Microsoft YaHei"/>
                <a:ea typeface="Microsoft YaHei"/>
              </a:rPr>
              <a:t>单列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103120"/>
            <a:ext cx="2651760" cy="126187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6949440" y="2359152"/>
            <a:ext cx="24688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Microsoft YaHei"/>
                <a:ea typeface="Microsoft YaHei"/>
              </a:rPr>
              <a:t>未找到完整行程</a:t>
            </a:r>
          </a:p>
        </p:txBody>
      </p:sp>
      <p:sp>
        <p:nvSpPr>
          <p:cNvPr id="23" name="V6_content_23"/>
          <p:cNvSpPr txBox="1"/>
          <p:nvPr/>
        </p:nvSpPr>
        <p:spPr>
          <a:xfrm>
            <a:off x="6967728" y="2871216"/>
            <a:ext cx="243230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274"/>
                </a:solidFill>
                <a:latin typeface="Microsoft YaHei"/>
                <a:ea typeface="Microsoft YaHei"/>
              </a:rPr>
              <a:t>有效请求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19" y="2103120"/>
            <a:ext cx="2651760" cy="126187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6_content_25"/>
          <p:cNvSpPr txBox="1"/>
          <p:nvPr/>
        </p:nvSpPr>
        <p:spPr>
          <a:xfrm>
            <a:off x="9966959" y="2359152"/>
            <a:ext cx="24688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Microsoft YaHei"/>
                <a:ea typeface="Microsoft YaHei"/>
              </a:rPr>
              <a:t>生成成功</a:t>
            </a:r>
          </a:p>
        </p:txBody>
      </p:sp>
      <p:sp>
        <p:nvSpPr>
          <p:cNvPr id="26" name="V6_content_26"/>
          <p:cNvSpPr txBox="1"/>
          <p:nvPr/>
        </p:nvSpPr>
        <p:spPr>
          <a:xfrm>
            <a:off x="9985247" y="2871216"/>
            <a:ext cx="243230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274"/>
                </a:solidFill>
                <a:latin typeface="Microsoft YaHei"/>
                <a:ea typeface="Microsoft YaHei"/>
              </a:rPr>
              <a:t>有效请求</a:t>
            </a:r>
          </a:p>
        </p:txBody>
      </p:sp>
      <p:sp>
        <p:nvSpPr>
          <p:cNvPr id="27" name="V6_content_27"/>
          <p:cNvSpPr txBox="1"/>
          <p:nvPr/>
        </p:nvSpPr>
        <p:spPr>
          <a:xfrm>
            <a:off x="822960" y="3785615"/>
            <a:ext cx="1115568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3F80"/>
                </a:solidFill>
                <a:latin typeface="Microsoft YaHei"/>
                <a:ea typeface="Microsoft YaHei"/>
              </a:rPr>
              <a:t>运行可行率 = 成功数 ÷ 有效请求数</a:t>
            </a:r>
          </a:p>
        </p:txBody>
      </p:sp>
      <p:sp>
        <p:nvSpPr>
          <p:cNvPr id="28" name="V6_content_28"/>
          <p:cNvSpPr txBox="1"/>
          <p:nvPr/>
        </p:nvSpPr>
        <p:spPr>
          <a:xfrm>
            <a:off x="822960" y="460857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Microsoft YaHei"/>
                <a:ea typeface="Microsoft YaHei"/>
              </a:rPr>
              <a:t>有效请求：输入通过，且算法正常结束。</a:t>
            </a:r>
          </a:p>
        </p:txBody>
      </p:sp>
      <p:sp>
        <p:nvSpPr>
          <p:cNvPr id="29" name="V6_content_29"/>
          <p:cNvSpPr txBox="1"/>
          <p:nvPr/>
        </p:nvSpPr>
        <p:spPr>
          <a:xfrm>
            <a:off x="822960" y="5358384"/>
            <a:ext cx="106984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Microsoft YaHei"/>
                <a:ea typeface="Microsoft YaHei"/>
              </a:rPr>
              <a:t>① 成功结果才算耗时 / 门票均值，并标明样本数。</a:t>
            </a:r>
          </a:p>
        </p:txBody>
      </p:sp>
      <p:sp>
        <p:nvSpPr>
          <p:cNvPr id="30" name="V6_content_30"/>
          <p:cNvSpPr txBox="1"/>
          <p:nvPr/>
        </p:nvSpPr>
        <p:spPr>
          <a:xfrm>
            <a:off x="822960" y="6044184"/>
            <a:ext cx="10058400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Microsoft YaHei"/>
                <a:ea typeface="Microsoft YaHei"/>
              </a:rPr>
              <a:t>② 日常运行与实验分开；算法另比较共同成功场景。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V6_footer_32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失败不记零；统计页不展示用户名等可识别个人信息；实验可行率分母另为15个场景。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进度安排与阶段交付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11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993392"/>
            <a:ext cx="3749039" cy="502920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32688" y="2066544"/>
            <a:ext cx="3529583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计划时段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993392"/>
            <a:ext cx="4663440" cy="502920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6_content_18"/>
          <p:cNvSpPr txBox="1"/>
          <p:nvPr/>
        </p:nvSpPr>
        <p:spPr>
          <a:xfrm>
            <a:off x="4681728" y="2066544"/>
            <a:ext cx="4443983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阶段重点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993392"/>
            <a:ext cx="3200400" cy="502920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9345167" y="2066544"/>
            <a:ext cx="29809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交付物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496312"/>
            <a:ext cx="3749039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932688" y="2606040"/>
            <a:ext cx="3529583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54A8"/>
                </a:solidFill>
                <a:latin typeface="Microsoft YaHei"/>
                <a:ea typeface="Microsoft YaHei"/>
              </a:rPr>
              <a:t>2026.10.08—10.21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496312"/>
            <a:ext cx="466344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4681728" y="2606040"/>
            <a:ext cx="4443983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选题、开题与方案修订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496312"/>
            <a:ext cx="320040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6_content_26"/>
          <p:cNvSpPr txBox="1"/>
          <p:nvPr/>
        </p:nvSpPr>
        <p:spPr>
          <a:xfrm>
            <a:off x="9345167" y="2606040"/>
            <a:ext cx="2980944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开题报告 / 答辩材料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145536"/>
            <a:ext cx="3749039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932688" y="3255264"/>
            <a:ext cx="3529583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54A8"/>
                </a:solidFill>
                <a:latin typeface="Microsoft YaHei"/>
                <a:ea typeface="Microsoft YaHei"/>
              </a:rPr>
              <a:t>2026.10.22—12.22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145536"/>
            <a:ext cx="466344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6_content_30"/>
          <p:cNvSpPr txBox="1"/>
          <p:nvPr/>
        </p:nvSpPr>
        <p:spPr>
          <a:xfrm>
            <a:off x="4681728" y="3255264"/>
            <a:ext cx="4443983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案例数据、设计、核心算法初步实现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3145536"/>
            <a:ext cx="320040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6_content_32"/>
          <p:cNvSpPr txBox="1"/>
          <p:nvPr/>
        </p:nvSpPr>
        <p:spPr>
          <a:xfrm>
            <a:off x="9345167" y="3255264"/>
            <a:ext cx="2980944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初稿 / 阶段材料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3794760"/>
            <a:ext cx="3749039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6_content_34"/>
          <p:cNvSpPr txBox="1"/>
          <p:nvPr/>
        </p:nvSpPr>
        <p:spPr>
          <a:xfrm>
            <a:off x="932688" y="3904488"/>
            <a:ext cx="3529583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54A8"/>
                </a:solidFill>
                <a:latin typeface="Microsoft YaHei"/>
                <a:ea typeface="Microsoft YaHei"/>
              </a:rPr>
              <a:t>2026.12.23—2027.01.15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794760"/>
            <a:ext cx="466344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6_content_36"/>
          <p:cNvSpPr txBox="1"/>
          <p:nvPr/>
        </p:nvSpPr>
        <p:spPr>
          <a:xfrm>
            <a:off x="4681728" y="3904488"/>
            <a:ext cx="4443983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核心功能、统计初步实现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3794760"/>
            <a:ext cx="320040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6_content_38"/>
          <p:cNvSpPr txBox="1"/>
          <p:nvPr/>
        </p:nvSpPr>
        <p:spPr>
          <a:xfrm>
            <a:off x="9345167" y="3904488"/>
            <a:ext cx="2980944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二稿 / 阶段结果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4443984"/>
            <a:ext cx="3749039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6_content_40"/>
          <p:cNvSpPr txBox="1"/>
          <p:nvPr/>
        </p:nvSpPr>
        <p:spPr>
          <a:xfrm>
            <a:off x="932688" y="4553712"/>
            <a:ext cx="3529583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54A8"/>
                </a:solidFill>
                <a:latin typeface="Microsoft YaHei"/>
                <a:ea typeface="Microsoft YaHei"/>
              </a:rPr>
              <a:t>2027.01.16—02.28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4443984"/>
            <a:ext cx="466344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6_content_42"/>
          <p:cNvSpPr txBox="1"/>
          <p:nvPr/>
        </p:nvSpPr>
        <p:spPr>
          <a:xfrm>
            <a:off x="4681728" y="4553712"/>
            <a:ext cx="4443983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联调、测试、算法对比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4443984"/>
            <a:ext cx="320040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6_content_44"/>
          <p:cNvSpPr txBox="1"/>
          <p:nvPr/>
        </p:nvSpPr>
        <p:spPr>
          <a:xfrm>
            <a:off x="9345167" y="4553712"/>
            <a:ext cx="2980944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定稿 / 测试材料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5093208"/>
            <a:ext cx="3749039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6_content_46"/>
          <p:cNvSpPr txBox="1"/>
          <p:nvPr/>
        </p:nvSpPr>
        <p:spPr>
          <a:xfrm>
            <a:off x="932688" y="5202936"/>
            <a:ext cx="3529583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54A8"/>
                </a:solidFill>
                <a:latin typeface="Microsoft YaHei"/>
                <a:ea typeface="Microsoft YaHei"/>
              </a:rPr>
              <a:t>2027.03.01—05.30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5093208"/>
            <a:ext cx="466344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6_content_48"/>
          <p:cNvSpPr txBox="1"/>
          <p:nvPr/>
        </p:nvSpPr>
        <p:spPr>
          <a:xfrm>
            <a:off x="4681728" y="5202936"/>
            <a:ext cx="4443983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评阅、答辩、修改与归档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35440" y="5093208"/>
            <a:ext cx="320040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6_content_50"/>
          <p:cNvSpPr txBox="1"/>
          <p:nvPr/>
        </p:nvSpPr>
        <p:spPr>
          <a:xfrm>
            <a:off x="9345167" y="5202936"/>
            <a:ext cx="2980944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Microsoft YaHei"/>
                <a:ea typeface="Microsoft YaHei"/>
              </a:rPr>
              <a:t>论文及完整项目材料</a:t>
            </a:r>
          </a:p>
        </p:txBody>
      </p:sp>
      <p:sp>
        <p:nvSpPr>
          <p:cNvPr id="51" name="V6_content_51"/>
          <p:cNvSpPr txBox="1"/>
          <p:nvPr/>
        </p:nvSpPr>
        <p:spPr>
          <a:xfrm>
            <a:off x="822960" y="6062472"/>
            <a:ext cx="1014984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54A8"/>
                </a:solidFill>
                <a:latin typeface="Microsoft YaHei"/>
                <a:ea typeface="Microsoft YaHei"/>
              </a:rPr>
              <a:t>实施顺序：单日 + 文字结果 → 多日 + 调整 → 地图 + 统计。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V6_footer_53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时段合并展示，依据第六版报告原计划；本次汇报方案，实际开发进度应据记录更新。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项目特色、风险与预期成果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12 / 16</a:t>
            </a:r>
          </a:p>
        </p:txBody>
      </p:sp>
      <p:sp>
        <p:nvSpPr>
          <p:cNvPr id="15" name="V6_content_15"/>
          <p:cNvSpPr txBox="1"/>
          <p:nvPr/>
        </p:nvSpPr>
        <p:spPr>
          <a:xfrm>
            <a:off x="822960" y="2148840"/>
            <a:ext cx="537667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工程特色</a:t>
            </a:r>
          </a:p>
        </p:txBody>
      </p:sp>
      <p:sp>
        <p:nvSpPr>
          <p:cNvPr id="16" name="V6_content_16"/>
          <p:cNvSpPr txBox="1"/>
          <p:nvPr/>
        </p:nvSpPr>
        <p:spPr>
          <a:xfrm>
            <a:off x="822960" y="2670048"/>
            <a:ext cx="5376672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Microsoft YaHei"/>
                <a:ea typeface="Microsoft YaHei"/>
              </a:rPr>
              <a:t>调整后给出具体冲突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Microsoft YaHei"/>
                <a:ea typeface="Microsoft YaHei"/>
              </a:rPr>
              <a:t>统一指标，区分统计来源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Microsoft YaHei"/>
                <a:ea typeface="Microsoft YaHei"/>
              </a:rPr>
              <a:t>结果可回查数据版本与明细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73952" y="2130552"/>
            <a:ext cx="0" cy="2962656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V6_content_18"/>
          <p:cNvSpPr txBox="1"/>
          <p:nvPr/>
        </p:nvSpPr>
        <p:spPr>
          <a:xfrm>
            <a:off x="6812280" y="2148840"/>
            <a:ext cx="537667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风险与应对</a:t>
            </a:r>
          </a:p>
        </p:txBody>
      </p:sp>
      <p:sp>
        <p:nvSpPr>
          <p:cNvPr id="19" name="V6_content_19"/>
          <p:cNvSpPr txBox="1"/>
          <p:nvPr/>
        </p:nvSpPr>
        <p:spPr>
          <a:xfrm>
            <a:off x="6812280" y="2670048"/>
            <a:ext cx="5376672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数据受限 → 合规来源 / 模拟标注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时间误差 → 说明估计边界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范围过大 → 先最小闭环再扩展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120640"/>
            <a:ext cx="1947672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6_content_21"/>
          <p:cNvSpPr txBox="1"/>
          <p:nvPr/>
        </p:nvSpPr>
        <p:spPr>
          <a:xfrm>
            <a:off x="950976" y="5152644"/>
            <a:ext cx="169163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预期交付</a:t>
            </a:r>
          </a:p>
        </p:txBody>
      </p:sp>
      <p:sp>
        <p:nvSpPr>
          <p:cNvPr id="22" name="V6_content_22"/>
          <p:cNvSpPr txBox="1"/>
          <p:nvPr/>
        </p:nvSpPr>
        <p:spPr>
          <a:xfrm>
            <a:off x="822960" y="5797296"/>
            <a:ext cx="1014984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3F80"/>
                </a:solidFill>
                <a:latin typeface="Microsoft YaHei"/>
                <a:ea typeface="Microsoft YaHei"/>
              </a:rPr>
              <a:t>可运行原型、源代码、案例数据说明、测试材料、毕业论文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V6_footer_24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特色在工程落实与验证，不把常规算法组合描述为理论创新，也不预设实验提升幅度。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8605" y="252095"/>
            <a:ext cx="1868170" cy="3270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38119" y="2652906"/>
            <a:ext cx="6799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>
                <a:solidFill>
                  <a:srgbClr val="003E9B"/>
                </a:solidFill>
                <a:latin typeface="思源黑体 CN Medium" charset="-122"/>
                <a:ea typeface="思源黑体 CN Medium" charset="-122"/>
              </a:rPr>
              <a:t>THANKS !</a:t>
            </a: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638165" y="381635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广科辅助"/>
          <p:cNvPicPr>
            <a:picLocks noChangeAspect="1"/>
          </p:cNvPicPr>
          <p:nvPr/>
        </p:nvPicPr>
        <p:blipFill>
          <a:blip r:embed="rId3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67330" y="403790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谢谢大家的聆听</a:t>
            </a:r>
            <a:endParaRPr lang="zh-CN" altLang="en-US" dirty="0">
              <a:solidFill>
                <a:srgbClr val="003E9B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备查一：完整系统功能模块图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14 / 16</a:t>
            </a:r>
          </a:p>
        </p:txBody>
      </p:sp>
      <p:pic>
        <p:nvPicPr>
          <p:cNvPr id="15" name="Picture 14" descr="figure_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335" y="1947672"/>
            <a:ext cx="6665185" cy="4818888"/>
          </a:xfrm>
          <a:prstGeom prst="rect">
            <a:avLst/>
          </a:prstGeom>
        </p:spPr>
      </p:pic>
      <p:sp>
        <p:nvSpPr>
          <p:cNvPr id="16" name="V6_content_16"/>
          <p:cNvSpPr txBox="1"/>
          <p:nvPr/>
        </p:nvSpPr>
        <p:spPr>
          <a:xfrm>
            <a:off x="9738360" y="2240280"/>
            <a:ext cx="26517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Microsoft YaHei"/>
                <a:ea typeface="Microsoft YaHei"/>
              </a:rPr>
              <a:t>核心计算</a:t>
            </a:r>
          </a:p>
        </p:txBody>
      </p:sp>
      <p:sp>
        <p:nvSpPr>
          <p:cNvPr id="17" name="V6_content_17"/>
          <p:cNvSpPr txBox="1"/>
          <p:nvPr/>
        </p:nvSpPr>
        <p:spPr>
          <a:xfrm>
            <a:off x="9738360" y="2770632"/>
            <a:ext cx="2651760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路线规划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Microsoft YaHei"/>
                <a:ea typeface="Microsoft YaHei"/>
              </a:rPr>
              <a:t>约束检查与解释</a:t>
            </a:r>
          </a:p>
        </p:txBody>
      </p:sp>
      <p:sp>
        <p:nvSpPr>
          <p:cNvPr id="18" name="V6_content_18"/>
          <p:cNvSpPr txBox="1"/>
          <p:nvPr/>
        </p:nvSpPr>
        <p:spPr>
          <a:xfrm>
            <a:off x="9738360" y="4114800"/>
            <a:ext cx="27432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Microsoft YaHei"/>
                <a:ea typeface="Microsoft YaHei"/>
              </a:rPr>
              <a:t>两种统计入口</a:t>
            </a:r>
          </a:p>
        </p:txBody>
      </p:sp>
      <p:sp>
        <p:nvSpPr>
          <p:cNvPr id="19" name="V6_content_19"/>
          <p:cNvSpPr txBox="1"/>
          <p:nvPr/>
        </p:nvSpPr>
        <p:spPr>
          <a:xfrm>
            <a:off x="9738360" y="4645152"/>
            <a:ext cx="274320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规划统计：运行记录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Microsoft YaHei"/>
                <a:ea typeface="Microsoft YaHei"/>
              </a:rPr>
              <a:t>算法评价：固定场景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V6_footer_21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备查页，不纳入8分钟主讲。图9沿用第六版报告；细节可在原报告或Draw.io源文件中放大。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备查二：两类角色与总体用例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15 / 16</a:t>
            </a:r>
          </a:p>
        </p:txBody>
      </p:sp>
      <p:pic>
        <p:nvPicPr>
          <p:cNvPr id="15" name="Picture 14" descr="figure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460" y="1856231"/>
            <a:ext cx="4423895" cy="4901184"/>
          </a:xfrm>
          <a:prstGeom prst="rect">
            <a:avLst/>
          </a:prstGeom>
        </p:spPr>
      </p:pic>
      <p:sp>
        <p:nvSpPr>
          <p:cNvPr id="16" name="V6_content_16"/>
          <p:cNvSpPr txBox="1"/>
          <p:nvPr/>
        </p:nvSpPr>
        <p:spPr>
          <a:xfrm>
            <a:off x="8238744" y="2295144"/>
            <a:ext cx="32918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54A8"/>
                </a:solidFill>
                <a:latin typeface="Microsoft YaHei"/>
                <a:ea typeface="Microsoft YaHei"/>
              </a:rPr>
              <a:t>普通用户</a:t>
            </a:r>
          </a:p>
        </p:txBody>
      </p:sp>
      <p:sp>
        <p:nvSpPr>
          <p:cNvPr id="17" name="V6_content_17"/>
          <p:cNvSpPr txBox="1"/>
          <p:nvPr/>
        </p:nvSpPr>
        <p:spPr>
          <a:xfrm>
            <a:off x="8238744" y="2862072"/>
            <a:ext cx="3977639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Microsoft YaHei"/>
                <a:ea typeface="Microsoft YaHei"/>
              </a:rPr>
              <a:t>查询、规划、调整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Microsoft YaHei"/>
                <a:ea typeface="Microsoft YaHei"/>
              </a:rPr>
              <a:t>查看结果与自己的行程</a:t>
            </a:r>
          </a:p>
        </p:txBody>
      </p:sp>
      <p:sp>
        <p:nvSpPr>
          <p:cNvPr id="18" name="V6_content_18"/>
          <p:cNvSpPr txBox="1"/>
          <p:nvPr/>
        </p:nvSpPr>
        <p:spPr>
          <a:xfrm>
            <a:off x="8238744" y="4306824"/>
            <a:ext cx="32918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54A8"/>
                </a:solidFill>
                <a:latin typeface="Microsoft YaHei"/>
                <a:ea typeface="Microsoft YaHei"/>
              </a:rPr>
              <a:t>管理员</a:t>
            </a:r>
          </a:p>
        </p:txBody>
      </p:sp>
      <p:sp>
        <p:nvSpPr>
          <p:cNvPr id="19" name="V6_content_19"/>
          <p:cNvSpPr txBox="1"/>
          <p:nvPr/>
        </p:nvSpPr>
        <p:spPr>
          <a:xfrm>
            <a:off x="8238744" y="4855464"/>
            <a:ext cx="3840480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Microsoft YaHei"/>
                <a:ea typeface="Microsoft YaHei"/>
              </a:rPr>
              <a:t>账号与权限维护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Microsoft YaHei"/>
                <a:ea typeface="Microsoft YaHei"/>
              </a:rPr>
              <a:t>景点、后台数据与统计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V6_footer_21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备查页。图8为需求设计；普通用户不应读取他人行程，统计页不展示可识别个人信息。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Microsoft YaHei"/>
                <a:ea typeface="Microsoft YaHei"/>
              </a:rPr>
              <a:t>备查三：算法与统计口径</a:t>
            </a: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Microsoft YaHei"/>
                <a:ea typeface="Microsoft YaHei"/>
              </a:rPr>
              <a:t>16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002536"/>
            <a:ext cx="2331720" cy="493776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32688" y="2075688"/>
            <a:ext cx="2112263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项目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79" y="2002536"/>
            <a:ext cx="9281160" cy="493776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6_content_18"/>
          <p:cNvSpPr txBox="1"/>
          <p:nvPr/>
        </p:nvSpPr>
        <p:spPr>
          <a:xfrm>
            <a:off x="3264408" y="2075688"/>
            <a:ext cx="9061704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第六版口径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496312"/>
            <a:ext cx="233172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932688" y="2606040"/>
            <a:ext cx="2112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Microsoft YaHei"/>
                <a:ea typeface="Microsoft YaHei"/>
              </a:rPr>
              <a:t>匹配 / 收益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79" y="2496312"/>
            <a:ext cx="928116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3264408" y="2606040"/>
            <a:ext cx="90617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B3A"/>
                </a:solidFill>
                <a:latin typeface="Microsoft YaHei"/>
                <a:ea typeface="Microsoft YaHei"/>
              </a:rPr>
              <a:t>mᵢ = 标签交集数 ÷ 用户标签数；无标签取0；uᵢ = 1 + mᵢ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118104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932688" y="3227832"/>
            <a:ext cx="2112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Microsoft YaHei"/>
                <a:ea typeface="Microsoft YaHei"/>
              </a:rPr>
              <a:t>总收益 / 接受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79" y="3118104"/>
            <a:ext cx="9281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6_content_26"/>
          <p:cNvSpPr txBox="1"/>
          <p:nvPr/>
        </p:nvSpPr>
        <p:spPr>
          <a:xfrm>
            <a:off x="3264408" y="3227832"/>
            <a:ext cx="90617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B3A"/>
                </a:solidFill>
                <a:latin typeface="Microsoft YaHei"/>
                <a:ea typeface="Microsoft YaHei"/>
              </a:rPr>
              <a:t>U = 已访问景点收益之和；先比U，再比交通耗时，再比门票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739896"/>
            <a:ext cx="233172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932688" y="3849624"/>
            <a:ext cx="2112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Microsoft YaHei"/>
                <a:ea typeface="Microsoft YaHei"/>
              </a:rPr>
              <a:t>贪心 / 停止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79" y="3739896"/>
            <a:ext cx="928116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6_content_30"/>
          <p:cNvSpPr txBox="1"/>
          <p:nvPr/>
        </p:nvSpPr>
        <p:spPr>
          <a:xfrm>
            <a:off x="3264408" y="3849624"/>
            <a:ext cx="90617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B3A"/>
                </a:solidFill>
                <a:latin typeface="Microsoft YaHei"/>
                <a:ea typeface="Microsoft YaHei"/>
              </a:rPr>
              <a:t>uᵢ ÷ 新增交通、等待、游玩分钟；分母≥1；100轮或一轮无改进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361688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6_content_32"/>
          <p:cNvSpPr txBox="1"/>
          <p:nvPr/>
        </p:nvSpPr>
        <p:spPr>
          <a:xfrm>
            <a:off x="932688" y="4471416"/>
            <a:ext cx="2112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Microsoft YaHei"/>
                <a:ea typeface="Microsoft YaHei"/>
              </a:rPr>
              <a:t>运行可行率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79" y="4361688"/>
            <a:ext cx="9281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6_content_34"/>
          <p:cNvSpPr txBox="1"/>
          <p:nvPr/>
        </p:nvSpPr>
        <p:spPr>
          <a:xfrm>
            <a:off x="3264408" y="4471416"/>
            <a:ext cx="90617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B3A"/>
                </a:solidFill>
                <a:latin typeface="Microsoft YaHei"/>
                <a:ea typeface="Microsoft YaHei"/>
              </a:rPr>
              <a:t>成功请求数 ÷ 输入通过且算法正常结束的有效请求数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983480"/>
            <a:ext cx="233172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6_content_36"/>
          <p:cNvSpPr txBox="1"/>
          <p:nvPr/>
        </p:nvSpPr>
        <p:spPr>
          <a:xfrm>
            <a:off x="932688" y="5093208"/>
            <a:ext cx="2112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Microsoft YaHei"/>
                <a:ea typeface="Microsoft YaHei"/>
              </a:rPr>
              <a:t>实验可行率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79" y="4983480"/>
            <a:ext cx="928116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6_content_38"/>
          <p:cNvSpPr txBox="1"/>
          <p:nvPr/>
        </p:nvSpPr>
        <p:spPr>
          <a:xfrm>
            <a:off x="3264408" y="5093208"/>
            <a:ext cx="90617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B3A"/>
                </a:solidFill>
                <a:latin typeface="Microsoft YaHei"/>
                <a:ea typeface="Microsoft YaHei"/>
              </a:rPr>
              <a:t>成功返回完整且每日非空行程的场景数 ÷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5605272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6_content_40"/>
          <p:cNvSpPr txBox="1"/>
          <p:nvPr/>
        </p:nvSpPr>
        <p:spPr>
          <a:xfrm>
            <a:off x="932688" y="5715000"/>
            <a:ext cx="211226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Microsoft YaHei"/>
                <a:ea typeface="Microsoft YaHei"/>
              </a:rPr>
              <a:t>均值 / 计时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79" y="5605272"/>
            <a:ext cx="9281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6_content_42"/>
          <p:cNvSpPr txBox="1"/>
          <p:nvPr/>
        </p:nvSpPr>
        <p:spPr>
          <a:xfrm>
            <a:off x="3264408" y="5715000"/>
            <a:ext cx="90617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B3A"/>
                </a:solidFill>
                <a:latin typeface="Microsoft YaHei"/>
                <a:ea typeface="Microsoft YaHei"/>
              </a:rPr>
              <a:t>只对成功样本求均值并标n；另比共同成功场景；计时5次取中位数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V6_footer_44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</a:rPr>
              <a:t>备查页。各日去程、景间交通、等待、游玩、返程计入行程总耗时；算法计时不含网络取数。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</TotalTime>
  <Words>496</Words>
  <Application>Microsoft Office PowerPoint</Application>
  <PresentationFormat>自定义</PresentationFormat>
  <Paragraphs>49</Paragraphs>
  <Slides>7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基于Django的短途旅游路线规划系统设计与实现</dc:title>
  <dc:creator>张三</dc:creator>
  <cp:lastModifiedBy>xb21cn</cp:lastModifiedBy>
  <cp:revision>393</cp:revision>
  <dcterms:created xsi:type="dcterms:W3CDTF">1900-01-01T00:00:00Z</dcterms:created>
  <dcterms:modified xsi:type="dcterms:W3CDTF">2021-05-20T09:50:42Z</dcterms:modified>
  <dc:subject>本科毕业设计开题方案；长沙及周边驾车案例</dc:subject>
  <cp:keywords>开题答辩,Django,时间窗,长沙,方案</cp:keywords>
  <dc:description>正文依据第六版开题报告；主讲13页，备查3页；设计与实验均按计划表述。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2052-11.1.0.10356</vt:lpwstr>
  </property>
  <property fmtid="{D5CDD505-2E9C-101B-9397-08002B2CF9AE}" pid="3" name="ICV">
    <vt:lpwstr>FE2F59BF72BB4E30A5E1232D9A29AB03</vt:lpwstr>
  </property>
</Properties>
</file>