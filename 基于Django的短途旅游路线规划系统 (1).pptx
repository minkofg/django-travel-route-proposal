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68" r:id="rId3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</p:sldIdLst>
  <p:sldSz cx="13679170" cy="791972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  <p14:section name="组织宣传" id="{F787C6D9-7CF9-4852-92D5-9342800D3C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69" userDrawn="1">
          <p15:clr>
            <a:srgbClr val="A4A3A4"/>
          </p15:clr>
        </p15:guide>
        <p15:guide id="2" pos="43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各位老师好，我是XXX，软件工程专业。我的开题题目是《基于Django的短途旅游路线规划系统设计与实现》。下面我从选题背景、系统角色与功能、系统架构与技术、接口与数据设计、进度安排五个方面汇报。</a:t>
            </a:r>
          </a:p>
          <a:p>
            <a:r>
              <a:t>（封面上的 XXX 请换成本人姓名和指导教师姓名。）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汇报分为五个部分，重点是第二部分系统功能和第三部分系统架构。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第一部分，选题背景与研究现状。</a:t>
            </a:r>
          </a:p>
          <a:p>
            <a:r>
              <a:t>短途旅游排路线，难点不是找不到景点，而是排出来的行程在时间上能不能走完：开放时间、游玩时长、返程时间都要算进去，换一个景点后面全部要重算。所以本课题做一个能生成、能调整、能检查行程的 Django 网站。</a:t>
            </a:r>
          </a:p>
          <a:p>
            <a:r>
              <a:t>国内外已有不少旅游推荐和路径规划研究，但大多关注推荐什么、怎么走；景点选好以后怎样排成每天能执行、时间和门票都不超的行程，讨论得相对少，这是本课题要做的部分。</a:t>
            </a:r>
          </a:p>
          <a:p>
            <a:r>
              <a:t>范围上先做小：长沙及周边、自驾、20—30 个景点、1—3 日行程，不做住宿和实时路况。</a:t>
            </a:r>
          </a:p>
          <a:p>
            <a:r>
              <a:t>【可能被问】为什么选这个题？——贴近生活；能完整覆盖需求分析、数据库设计、Web 开发和测试；范围可控，能按时完成。</a:t>
            </a:r>
          </a:p>
          <a:p>
            <a:r>
              <a:t>【准备】参考文献 12 篇（国内 6 篇、国外 6 篇），答辩前把每篇的核心内容过一遍。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第二部分，系统角色与功能。</a:t>
            </a:r>
          </a:p>
          <a:p>
            <a:r>
              <a:t>系统有三类使用者：游客、普通用户和管理员。游客是未登录状态，可以浏览、检索景点和注册；注册登录后就是普通用户，可以生成、调整和管理自己的行程；管理员负责账号、景点和基础数据、统计和验证。</a:t>
            </a:r>
          </a:p>
          <a:p>
            <a:r>
              <a:t>腾讯地图是外部服务，只负责展示点位和访问顺序，不算使用者角色。</a:t>
            </a:r>
          </a:p>
          <a:p>
            <a:r>
              <a:t>【可能被问】为什么是三类角色？——游客和普通用户的区别是是否登录，权限不同：游客不能生成和保存行程。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系统一共分为 10 个功能模块、70 个功能点，和开题报告里的系统功能模块图一致。</a:t>
            </a:r>
          </a:p>
          <a:p>
            <a:r>
              <a:t>上排 5 个是用户直接使用的核心业务：景点检索、路线规划、约束检查、行程调整、地图展示；下排 5 个是基础与管理功能：用户与权限、景点数据、后台数据维护、规划统计和路线规划验证。</a:t>
            </a:r>
          </a:p>
          <a:p>
            <a:r>
              <a:t>其中路线规划和约束检查是核心，地图展示、统计和验证都建立在它们给出的结果上。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下面具体说用户使用的五个核心功能。（按页面逐条读即可）</a:t>
            </a:r>
          </a:p>
          <a:p>
            <a:r>
              <a:t>重点强调两点：一是生成行程时会同时检查开放时间、返程时间和门票预算；二是用户替换景点或调整顺序以后，系统会自动重算时间并重新检查，检查通过才保存。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这一页是基础与管理功能，主要由管理员使用。（按页面逐条读即可）</a:t>
            </a:r>
          </a:p>
          <a:p>
            <a:r>
              <a:t>补充说明：被历史行程引用的景点只设为失效、不物理删除，是为了老行程还能追溯当时用的资料。</a:t>
            </a:r>
          </a:p>
          <a:p>
            <a:r>
              <a:t>统计模块看日常运行记录，验证模块用固定场景，两者计算方法共用，但入口和数据分开。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系统的使用流程是：检索景点加入候选清单，输入出行条件，系统生成分日行程，查看时间表和地图；如果用户替换景点或调整顺序，系统会自动重新检查，通过后才保存。</a:t>
            </a:r>
          </a:p>
          <a:p>
            <a:r>
              <a:t>下面用一个虚拟例子说明时间怎么算：9 点出发，开车 30 分钟到 A，但 A 10 点才开放，要等 30 分钟；游玩 60 分钟，再开 20 分钟到 B，游玩 40 分钟，返程 40 分钟，12:40 回到出发点，一共 220 分钟。系统要检查的是能不能在闭馆前玩完、能不能按时回来、门票有没有超预算，而不是只把游玩时间加起来。</a:t>
            </a:r>
          </a:p>
          <a:p>
            <a:r>
              <a:t>【如果老师问路线怎么生成】先筛掉失效和不符合条件的景点，再一天一天往里加：兴趣标签匹配多的优先，匹配一样就选多花时间少的；每加一个都检查开放时间、返程和门票预算，排不下就进入下一天。规则简单，方便实现、解释和测试，不追求全局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第三部分，系统架构与技术。</a:t>
            </a:r>
          </a:p>
          <a:p>
            <a:r>
              <a:t>系统采用 B/S 架构，是一个 Django 单体应用，分四层看：</a:t>
            </a:r>
          </a:p>
          <a:p>
            <a:r>
              <a:t>用户层是游客、普通用户和管理员，通过浏览器访问；</a:t>
            </a:r>
          </a:p>
          <a:p>
            <a:r>
              <a:t>前端是 Django 模板加 Bootstrap 做的页面，地图用腾讯地图 JS API 显示点位和访问顺序；</a:t>
            </a:r>
          </a:p>
          <a:p>
            <a:r>
              <a:t>后端是 Django：请求先经过 URL 路由到视图，视图检查登录和权限，再调用景点检索、路线生成、约束检查和统计四个业务服务；基础数据维护复用 Django Admin；</a:t>
            </a:r>
          </a:p>
          <a:p>
            <a:r>
              <a:t>数据层通过 Django ORM 操作 SQLite，保存景点、出发点、交通路段、行程和规划记录。驾车耗时通过腾讯地图路径规划服务离线获取，存成交通矩阵。</a:t>
            </a:r>
          </a:p>
          <a:p>
            <a:r>
              <a:t>【可能被问】是不是前后端分离？——不是，前端和后端在同一个 Django 工程里；项目规模小，用模板渲染更简单，也省去接口联调。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前端在浏览器里，由 Django 模板和 Bootstrap 页面组成，负责显示页面、接收输入，地图用腾讯地图 JS API 显示。后端是 Django，负责接收请求、检查登录和权限、调用业务服务、读写数据库，再把结果页面返回。</a:t>
            </a:r>
          </a:p>
          <a:p>
            <a:r>
              <a:t>以“生成行程”为例：浏览器提交表单 → urls.py 分发到对应视图 → views.py 检查登录和参数 → 调用路线生成和约束检查服务 → 通过 models.py 读写 SQLite → 用模板渲染结果 → 浏览器显示行程和地图。</a:t>
            </a:r>
          </a:p>
          <a:p>
            <a:r>
              <a:t>右边是拟定的 Django 项目结构，按功能拆成几个 app，路线生成单独放在 planner 里，方便单独测试。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技术选型全部基于 Python 生态。Python 和 Django 的特色主要体现在：</a:t>
            </a:r>
          </a:p>
          <a:p>
            <a:r>
              <a:t>第一，Django 自带认证、后台、ORM 和模板，注册登录、密码加密、后台增删改查基本不用从零写；</a:t>
            </a:r>
          </a:p>
          <a:p>
            <a:r>
              <a:t>第二，ORM 用 Python 类定义数据表，迁移命令自动建表，事务保证一次保存要么全成功、要么全撤回；</a:t>
            </a:r>
          </a:p>
          <a:p>
            <a:r>
              <a:t>第三，路线生成写成独立的 Python 模块，用 datetime 按分钟计算时间，可以脱离页面单独测试。</a:t>
            </a:r>
          </a:p>
          <a:p>
            <a:r>
              <a:t>这样基础功能搭得快，时间主要花在路线生成、约束检查和行程调整这些核心业务上。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第四部分，接口与数据设计。</a:t>
            </a:r>
          </a:p>
          <a:p>
            <a:r>
              <a:t>接口分三类。</a:t>
            </a:r>
          </a:p>
          <a:p>
            <a:r>
              <a:t>页面接口是用户直接操作的入口，就是 URL 路由对应的视图，比如景点查询、生成行程、我的行程、后台与统计；</a:t>
            </a:r>
          </a:p>
          <a:p>
            <a:r>
              <a:t>内部接口是模块之间的调用约定：路线生成服务输入规划参数，输出分日行程或冲突清单；约束检查服务输入一条完整行程，输出逐项检查结果，生成和调整两处共用同一套检查；</a:t>
            </a:r>
          </a:p>
          <a:p>
            <a:r>
              <a:t>外部接口是腾讯地图：JS API 只负责显示点位和顺序，路径规划服务用来获取驾车耗时，存成交通矩阵。</a:t>
            </a:r>
          </a:p>
          <a:p>
            <a:r>
              <a:t>【可能被问】为什么不用 REST？——本系统不是前后端分离，页面由模板渲染，不需要单独做一套 REST 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数据方面主要有这几个类：用户复用 Django Auth；景点类保存景点资料和有效状态；标签、区域、出发点是基础数据；交通路段保存两点之间有方向的驾车耗时；行程和行程明细保存一次行程的归属、分日顺序和时间快照；规划记录用于统计。</a:t>
            </a:r>
          </a:p>
          <a:p>
            <a:r>
              <a:t>权限上：景点游客和用户只能查，管理员增改和设为失效；行程用户可以增删改查，但只限自己的；基础数据和账号由管理员维护。</a:t>
            </a:r>
          </a:p>
          <a:p>
            <a:r>
              <a:t>身份认证用 Django Auth，密码哈希保存；改地址里的编号去访问别人的行程会被拒绝，这一条会做成越权测试。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第五部分，进度安排与预期成果。</a:t>
            </a:r>
          </a:p>
          <a:p>
            <a:r>
              <a:t>进度按学校安排分七个阶段：10 月中旬完成选题开题和开题答辩，12 月 22 日前完成论文和系统初稿，之后是二稿、定稿、交叉评阅，2027 年 3 月到 4 月进行答辩。系统开发主要集中在阶段 3，顺序是数据库设计、整理景点数据、核心功能编码、行程管理与地图、统计验证与测试，同时写论文初稿。</a:t>
            </a:r>
          </a:p>
          <a:p>
            <a:r>
              <a:t>预期成果是一个能在个人电脑上运行的 Django 原型系统，以及源代码、案例数据说明、设计文档、测试记录和毕业论文。</a:t>
            </a:r>
          </a:p>
          <a:p>
            <a:r>
              <a:t>特色有三点：规则可检查、调整后即时复查、结果可追溯。</a:t>
            </a:r>
          </a:p>
          <a:p>
            <a:r>
              <a:t>我的汇报完毕，恳请各位老师批评指正。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我的汇报完毕，恳请各位老师批评指正。</a:t>
            </a:r>
          </a:p>
          <a:p>
            <a:r>
              <a:t>（THANKS 之后是备查页：开题报告中的图1—图12，老师问到具体模块时再翻到对应页。）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备查页：开题报告图1「用户与权限管理模块用例图」。老师问到相关模块时翻到这一页。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备查页：开题报告图2「景点数据管理模块用例图」。老师问到相关模块时翻到这一页。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备查页：开题报告图3「景点检索模块用例图」。老师问到相关模块时翻到这一页。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备查页：开题报告图4「路线规划模块用例图」。老师问到相关模块时翻到这一页。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备查页：开题报告图5「约束检查与冲突解释模块用例图」。老师问到相关模块时翻到这一页。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备查页：开题报告图6「行程调整与管理模块用例图」。老师问到相关模块时翻到这一页。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备查页：开题报告图7「地图与结果展示模块用例图」。老师问到相关模块时翻到这一页。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备查页：开题报告图8「后台数据维护模块用例图」。老师问到相关模块时翻到这一页。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备查页：开题报告图9「规划统计分析模块用例图」。老师问到相关模块时翻到这一页。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备查页：开题报告图10「路线规划验证模块用例图」。老师问到相关模块时翻到这一页。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备查页：开题报告图11「系统总体用例图」。老师问到相关模块时翻到这一页。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备查页：开题报告图12「系统功能模块图」。老师问到相关模块时翻到这一页。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27248" y="2821098"/>
            <a:ext cx="10378440" cy="119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基于Django的短途旅游路线规划系统设计与实现</a:t>
            </a:r>
            <a:endParaRPr lang="zh-CN" altLang="en-US" sz="3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98480" y="4181666"/>
            <a:ext cx="210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2026年10月</a:t>
            </a:r>
            <a:endParaRPr lang="en-US" altLang="zh-CN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46120" y="4069080"/>
            <a:ext cx="73152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本科毕业设计（论文）开题答辩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赵浩钧</a:t>
            </a: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　　专业：软件工程　　指导教师：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崔梦</a:t>
            </a:r>
            <a:r>
              <a:rPr lang="zh-CN"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</a:t>
            </a:r>
            <a:endParaRPr lang="zh-CN"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5028" y="234565"/>
            <a:ext cx="2161540" cy="37909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H="1">
            <a:off x="2638165" y="426626"/>
            <a:ext cx="10999814" cy="0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2511" y="2433185"/>
            <a:ext cx="113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lang="zh-CN" altLang="en-US" sz="3200" b="1" dirty="0">
              <a:solidFill>
                <a:srgbClr val="004EA2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12020" y="2534503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01 / 选题背景与意义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12020" y="3004484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812020" y="3166784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02 / 系统角色与功能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812020" y="3636765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812020" y="3824496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03 / 系统架构与技术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12020" y="4294477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812020" y="4454502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04 / 接口与数据设计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812020" y="4924483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812019" y="5081485"/>
            <a:ext cx="484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smtClea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05 / 进度安排与预期成果</a:t>
            </a:r>
            <a:endParaRPr lang="zh-CN" altLang="en-US" dirty="0">
              <a:latin typeface="思源黑体 CN Bold" pitchFamily="34" charset="-122"/>
              <a:ea typeface="思源黑体 CN Bold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812019" y="5551466"/>
            <a:ext cx="4919869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等腰三角形 22"/>
          <p:cNvSpPr/>
          <p:nvPr/>
        </p:nvSpPr>
        <p:spPr>
          <a:xfrm rot="5400000">
            <a:off x="1303823" y="2544365"/>
            <a:ext cx="374286" cy="322660"/>
          </a:xfrm>
          <a:prstGeom prst="triangle">
            <a:avLst/>
          </a:prstGeom>
          <a:solidFill>
            <a:srgbClr val="004EA2"/>
          </a:solidFill>
          <a:ln>
            <a:solidFill>
              <a:srgbClr val="004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选题背景、意义与研究现状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短途旅游多为 1—3 天，定路线既要挑景点，也要算路上时间、开放时间和游玩时长。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看着近的景点也可能因闭馆早、回程晚排不进同一天；换掉一个景点，后面的时间都要重算。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意义：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给出每天都能走完、可逐项检查的行程；同时完整覆盖需求分析、数据库设计、Web 开发和测试。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03720" y="1828800"/>
            <a:ext cx="5897880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03720" y="2304288"/>
            <a:ext cx="5897880" cy="2286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414016"/>
            <a:ext cx="5623560" cy="2148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国内：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王佳琪、赵星、谭鸿博、朱志国等研究微度假选择、多模式旅游路径和景点推荐。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8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国外：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Halder、Zhong、Adamo 等研究个性化行程推荐、带时间窗的多日行程和多模式规划。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E46C0A"/>
              </a:buClr>
              <a:buFont typeface="Arial" panose="020B0604020202020204"/>
              <a:buChar char="•"/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不足：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多关注「推荐哪些景点、怎么走」，较少讨论「怎样排成每天能走完、时间和门票都不超的行程」。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54880"/>
            <a:ext cx="548640" cy="9601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vert="eaVert" wrap="square" lIns="18288" tIns="27432" rIns="18288" bIns="27432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研究范围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63040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案例区域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63040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长沙及周边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景点规模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25112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计划整理 20—30 个景点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87184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出行方式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87184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自驾 1—3 日，每天从同一出发点出发并返回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49256" y="4754880"/>
            <a:ext cx="2752344" cy="329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不在范围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049256" y="5084064"/>
            <a:ext cx="2752344" cy="63093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18288" bIns="18288" rtlCol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住宿、餐饮、实时路况不做；费用只计门票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16168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16168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本课题：用 Django 做一个能「生成—调整—检查」短途行程的 Web 系统，先用长沙数据跑通，重点把「排得出、走得完、改了能复查」做扎实。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系统角色：三类使用者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3822192" cy="822960"/>
          </a:xfrm>
          <a:prstGeom prst="rect">
            <a:avLst/>
          </a:prstGeom>
          <a:solidFill>
            <a:srgbClr val="1E94D4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</a:t>
            </a:r>
            <a:endParaRPr sz="21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游客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未登录状态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浏览、检索景点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查看景点开放时间、门票和位置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E94D4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注册账号，登录后成为普通用户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78324" y="1828800"/>
            <a:ext cx="3822192" cy="8229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42916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endParaRPr sz="21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5292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普通用户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已登录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8324" y="2651760"/>
            <a:ext cx="3822192" cy="3017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8052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登录、修改密码、维护个人信息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检索景点，管理候选清单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输入条件，生成 1—3 日行程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替换景点、调整顺序后自动复查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保存行程，查看、修改、删除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查看地图与分日时间表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79408" y="1828800"/>
            <a:ext cx="3822192" cy="82296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194767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</a:t>
            </a:r>
            <a:endParaRPr sz="21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66376" y="1901952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979408" y="2651760"/>
            <a:ext cx="3822192" cy="3017520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788920"/>
            <a:ext cx="3639312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管理账号、分配角色、禁用账号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新增、修改景点，设为失效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维护标签、区域、出发点等数据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查看操作日志与异常记录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1200"/>
              </a:spcAft>
              <a:buClr>
                <a:srgbClr val="15807C"/>
              </a:buClr>
              <a:buFont typeface="Arial" panose="020B0604020202020204"/>
              <a:buChar char="•"/>
            </a:pPr>
            <a:r>
              <a:rPr sz="17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规划统计分析、路线规划验证</a:t>
            </a:r>
            <a:endParaRPr sz="17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94360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4360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外部参与者：腾讯地图服务</a:t>
            </a:r>
            <a:r>
              <a:rPr sz="170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——负责标注出发点和景点、显示访问顺序；只做展示，不参与路线计算。</a:t>
            </a:r>
            <a:endParaRPr sz="170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系统功能模块：10 个模块、70 个功能点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475488" cy="190195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核心业务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1600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71600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35608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关键词检索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78024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组合筛选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35608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兴趣匹配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78024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景点详情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35608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78024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候选清单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85032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85032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0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日期与天数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91456" y="25420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每日起终点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49040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兴趣与预算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91456" y="28803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逐日构造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49040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分日路线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91456" y="321868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98464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98464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6247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每日时限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04888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6247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游玩等待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104888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6247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景点不重复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04888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门票预算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62472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冲突定位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04888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修改建议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311896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11896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5904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分日行程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418320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替换景点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75904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调整顺序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418320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重新校验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375904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重算时间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418320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保存行程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75904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历史行程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625328" y="1828800"/>
            <a:ext cx="2176272" cy="47548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625328" y="2304288"/>
            <a:ext cx="2176272" cy="142646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89336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地图点位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731752" y="23728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访问顺序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689336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到离时间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1731752" y="271119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等待与游玩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689336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去返程时间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731752" y="304952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门票汇总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689336" y="338785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3EA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列表降级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77240" y="3840480"/>
            <a:ext cx="475488" cy="190195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vert="eaVert" wrap="square" lIns="18288" r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371600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371600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5608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注册与校验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47802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登录与认证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35608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异常提醒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47802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个人资料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435608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密码修改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47802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账号管理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435608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权限分配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47802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操作日志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85032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685032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4904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景点资料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79145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开放时间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74904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游玩时长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79145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有效状态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74904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资料来源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9145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变更记录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49040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数据校验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79145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历史提示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998464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998464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62472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基础分类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104888" y="455371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数据字典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2472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参数配置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104888" y="48920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修改日志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062472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异常审计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104888" y="523036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311896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311896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75904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运行记录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418320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来源区分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375904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筛选统计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9418320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生成数量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375904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可行率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418320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失败原因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375904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成功均值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625328" y="3840480"/>
            <a:ext cx="2176272" cy="475488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tIns="18288" rIns="45720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0625328" y="4315968"/>
            <a:ext cx="2176272" cy="1426464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89336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固定场景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1731752" y="43845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路线生成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689336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约束检查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731752" y="4722876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成功与失败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0689336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失败明细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731752" y="5061204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生成耗时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689336" y="5399532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B9DAD7"/>
            </a:solidFill>
          </a:ln>
        </p:spPr>
        <p:txBody>
          <a:bodyPr wrap="none" lIns="9144" tIns="0" rIns="9144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数据版本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77240" y="5897880"/>
            <a:ext cx="103327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上排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是用户直接使用的核心业务，</a:t>
            </a:r>
            <a:r>
              <a:rPr sz="16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下排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是基础数据与管理功能；功能点与开题报告图12一致（原图见附图12）。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核心业务功能（游客 / 普通用户使用）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支持关键词查询和区域、类型、门票价格区间的组合筛选，结果按兴趣标签匹配程度排序；可查看开放时间、游玩时长、门票和位置，并加入候选清单。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输入出行日期、1—3 日天数、预设出发点、每日起止时间、兴趣标签和门票预算，系统从候选景点中逐日生成行程，每天从出发点出发、晚上返回。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约束检查与冲突解释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逐日检查每日时限、开放时间、游玩与等待时间、返程时限、景点是否重复和门票预算；有冲突时定位到具体景点，并给出减少景点、调整时间等修改建议。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行程调整与管理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可替换景点、调整同日访问顺序，系统自动重算受影响日期的时间表并重新检查，通过后才保存；已保存的行程可查看、修改、删除，只能操作本人的行程。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地图与结果展示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用腾讯地图标注出发点和景点、显示访问顺序；列表汇总交通、等待、游玩、返程时间和门票费用；地图加载失败时，文字行程照常显示。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基础与管理功能（管理员为主）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注册、登录、修改密码和个人信息维护，注册登录时做输入校验，连续登录失败会提示并限制重试；管理员可管理账号、分配角色、禁用异常账号、查看操作日志。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景点数据管理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2816352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管理员新增、修改景点，维护门票、位置、类型、标签、开放时间和建议游玩时长，并记录资料来源；失效景点不再参与新路线，历史行程中的记录保留。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3803904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后台数据维护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3803904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维护景点标签、区域分类、预设出发点等基础数据和数据字典；可查询资料修改、规划异常和地图接口异常的日志，为前台提供统一的基础数据。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791456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规划统计分析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91840" y="4791456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按时间、行程天数和记录来源筛选，查看生成量、成功比例、失败原因以及成功行程的耗时与门票分布；输入错误、系统异常、未生成完整行程、生成成功四类分开统计。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5779008"/>
            <a:ext cx="2514600" cy="896112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27432" rIns="54864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5779008"/>
            <a:ext cx="7818120" cy="896112"/>
          </a:xfrm>
          <a:prstGeom prst="rect">
            <a:avLst/>
          </a:prstGeom>
          <a:solidFill>
            <a:srgbClr val="E8F4F3"/>
          </a:solidFill>
          <a:ln>
            <a:noFill/>
          </a:ln>
        </p:spPr>
        <p:txBody>
          <a:bodyPr wrap="square" lIns="182880" tIns="36576" rIns="137160" bIns="36576" rtlCol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管理员配置一日、二日、三日的固定场景，批量运行路线生成，逐项检查开放时间、返程时限、门票预算和景点重复，记录成功或失败原因、景点数量与生成耗时。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核心业务流程：从输入条件到保存行程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Pentagon 12"/>
          <p:cNvSpPr/>
          <p:nvPr/>
        </p:nvSpPr>
        <p:spPr>
          <a:xfrm>
            <a:off x="777240" y="1828800"/>
            <a:ext cx="2103120" cy="1005840"/>
          </a:xfrm>
          <a:prstGeom prst="homePlate">
            <a:avLst>
              <a:gd name="adj" fmla="val 26000"/>
            </a:avLst>
          </a:prstGeom>
          <a:solidFill>
            <a:srgbClr val="7FA3D6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检索景点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加入候选清单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761488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5F8BC9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输入条件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日期·天数·预算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4745736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3F73BC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生成行程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按天排好景点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6729984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2160AF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查看结果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时间表与地图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8714232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F55A8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调整行程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替换·调序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10698480" y="1828800"/>
            <a:ext cx="2103120" cy="1005840"/>
          </a:xfrm>
          <a:prstGeom prst="chevron">
            <a:avLst>
              <a:gd name="adj" fmla="val 26000"/>
            </a:avLst>
          </a:prstGeom>
          <a:solidFill>
            <a:srgbClr val="003E9B"/>
          </a:solidFill>
          <a:ln>
            <a:noFill/>
          </a:ln>
        </p:spPr>
        <p:txBody>
          <a:bodyPr wrap="square" tIns="18288" rIns="54864" bIns="18288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⑥ 重新检查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通过后保存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2944368"/>
            <a:ext cx="11978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第⑥步检查不通过时：</a:t>
            </a: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系统指出冲突发生在哪个景点、超出多少时间或预算，用户修改后再次检查，通过才保存。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520440"/>
            <a:ext cx="1033272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11880"/>
            <a:ext cx="9966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示意算例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（虚拟数据，只用来说明系统怎么算时间）　全程共 220 分钟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8720" y="4526280"/>
            <a:ext cx="1296785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5505" y="4526280"/>
            <a:ext cx="1296785" cy="54864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等待30分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782291" y="4526280"/>
            <a:ext cx="2593571" cy="548640"/>
          </a:xfrm>
          <a:prstGeom prst="rect">
            <a:avLst/>
          </a:prstGeom>
          <a:solidFill>
            <a:srgbClr val="004EA2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游玩景点A 60分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75862" y="4526280"/>
            <a:ext cx="864524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车程20分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40385" y="4526280"/>
            <a:ext cx="1729047" cy="548640"/>
          </a:xfrm>
          <a:prstGeom prst="rect">
            <a:avLst/>
          </a:prstGeom>
          <a:solidFill>
            <a:srgbClr val="2F6DB5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游玩景点B 40分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69433" y="4526280"/>
            <a:ext cx="1729047" cy="548640"/>
          </a:xfrm>
          <a:prstGeom prst="rect">
            <a:avLst/>
          </a:prstGeom>
          <a:solidFill>
            <a:srgbClr val="9DB3D3"/>
          </a:solidFill>
          <a:ln w="12700">
            <a:solidFill>
              <a:srgbClr val="FFFFFF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返程40分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118872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005840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9:00 出发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248550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175398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9:30 到A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782291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050771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10:00 A开放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375862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644342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240385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508865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11:20 到B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8969433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237913" y="4069080"/>
            <a:ext cx="146304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698480" y="4370832"/>
            <a:ext cx="0" cy="155448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052560" y="4069080"/>
            <a:ext cx="1828800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12:40 回到出发点</a:t>
            </a:r>
            <a:endParaRPr sz="13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9966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系统逐项检查：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① 景点 A、B 能否在闭馆前玩完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80760" y="562356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② 12:40 返回是否早于当天结束时间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9728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③ 门票合计是否超出预算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80760" y="6007608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④ 跨日景点是否重复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0120" y="6382512"/>
            <a:ext cx="996696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任何一项不满足，就不算成功行程，而是提示冲突原因。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系统总体架构（B/S 架构，Django 单体应用）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143000" cy="54864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740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E94D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E94D4"/>
                </a:solidFill>
                <a:latin typeface="微软雅黑" panose="020B0503020204020204" charset="-122"/>
                <a:ea typeface="微软雅黑" panose="020B0503020204020204" charset="-122"/>
              </a:rPr>
              <a:t>游客（浏览器访问）</a:t>
            </a:r>
            <a:endParaRPr sz="1500" b="1">
              <a:solidFill>
                <a:srgbClr val="1E94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5112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普通用户（浏览器访问）</a:t>
            </a:r>
            <a:endParaRPr sz="15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44840" y="1828800"/>
            <a:ext cx="286512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807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5807C"/>
                </a:solidFill>
                <a:latin typeface="微软雅黑" panose="020B0503020204020204" charset="-122"/>
                <a:ea typeface="微软雅黑" panose="020B0503020204020204" charset="-122"/>
              </a:rPr>
              <a:t>管理员（浏览器访问）</a:t>
            </a:r>
            <a:endParaRPr sz="1500" b="1">
              <a:solidFill>
                <a:srgbClr val="1580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77240" y="2606040"/>
            <a:ext cx="1143000" cy="7315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57400" y="2606040"/>
            <a:ext cx="347472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模板页面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检索 / 规划 / 我的行程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15000" y="2606040"/>
            <a:ext cx="23774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Bootstrap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页面样式与表单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点位、访问顺序展示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7240" y="3566160"/>
            <a:ext cx="1143000" cy="18288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57400" y="3566160"/>
            <a:ext cx="90525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67128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URL 路由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97096" y="3657600"/>
            <a:ext cx="18288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视图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7064" y="3657600"/>
            <a:ext cx="2194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认证与权限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Auth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22792" y="365760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4EA2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后台管理</a:t>
            </a:r>
            <a:endParaRPr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Django Admin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014216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6044184" y="3986784"/>
            <a:ext cx="164592" cy="0"/>
          </a:xfrm>
          <a:prstGeom prst="line">
            <a:avLst/>
          </a:prstGeom>
          <a:ln w="19050">
            <a:solidFill>
              <a:srgbClr val="004EA2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2167128" y="43891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业务服务（独立的 Python 模块）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67128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景点检索服务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16552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路线生成服务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65976" y="4690872"/>
            <a:ext cx="2084832" cy="59436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约束检查服务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915400" y="4690872"/>
            <a:ext cx="2084832" cy="59436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统计服务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5623560"/>
            <a:ext cx="1143000" cy="658368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57400" y="5623560"/>
            <a:ext cx="3017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ORM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models.py 模型类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093208" y="5952744"/>
            <a:ext cx="329184" cy="0"/>
          </a:xfrm>
          <a:prstGeom prst="line">
            <a:avLst/>
          </a:prstGeom>
          <a:ln w="19050">
            <a:solidFill>
              <a:srgbClr val="004EA2"/>
            </a:solidFill>
            <a:headEnd type="triangle" w="med" len="med"/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5440680" y="5623560"/>
            <a:ext cx="566928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SQLite 数据库</a:t>
            </a:r>
            <a:endParaRPr sz="15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景点 · 出发点 · 交通路段 · 行程 · 规划记录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0" y="237744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6583680" y="33375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3566160" y="5394960"/>
            <a:ext cx="0" cy="228600"/>
          </a:xfrm>
          <a:prstGeom prst="line">
            <a:avLst/>
          </a:prstGeom>
          <a:ln w="25400">
            <a:solidFill>
              <a:srgbClr val="003E9B"/>
            </a:solidFill>
            <a:headEnd type="triangle" w="med" len="med"/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11384280" y="260604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46C0A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腾讯地图服务</a:t>
            </a:r>
            <a:endParaRPr sz="13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（外部）</a:t>
            </a:r>
            <a:endParaRPr sz="120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1128248" y="2971800"/>
            <a:ext cx="237744" cy="0"/>
          </a:xfrm>
          <a:prstGeom prst="line">
            <a:avLst/>
          </a:prstGeom>
          <a:ln w="19050">
            <a:solidFill>
              <a:srgbClr val="E46C0A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12710160" y="3355848"/>
            <a:ext cx="0" cy="214884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4" name="Connector 43"/>
          <p:cNvCxnSpPr/>
          <p:nvPr/>
        </p:nvCxnSpPr>
        <p:spPr>
          <a:xfrm flipH="1">
            <a:off x="10424160" y="5504688"/>
            <a:ext cx="2286000" cy="0"/>
          </a:xfrm>
          <a:prstGeom prst="line">
            <a:avLst/>
          </a:prstGeom>
          <a:ln w="15875">
            <a:solidFill>
              <a:srgbClr val="E46C0A"/>
            </a:solidFill>
            <a:prstDash val="dash"/>
          </a:ln>
        </p:spPr>
      </p:cxnSp>
      <p:cxnSp>
        <p:nvCxnSpPr>
          <p:cNvPr id="45" name="Connector 44"/>
          <p:cNvCxnSpPr/>
          <p:nvPr/>
        </p:nvCxnSpPr>
        <p:spPr>
          <a:xfrm>
            <a:off x="10424160" y="5504688"/>
            <a:ext cx="0" cy="109728"/>
          </a:xfrm>
          <a:prstGeom prst="line">
            <a:avLst/>
          </a:prstGeom>
          <a:ln w="15875">
            <a:solidFill>
              <a:srgbClr val="E46C0A"/>
            </a:solidFill>
            <a:prstDash val="dash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11228832" y="37947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路径规划服务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获取驾车耗时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存为交通矩阵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（离线存档）</a:t>
            </a:r>
            <a:endParaRPr sz="1250" b="0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7240" y="6400800"/>
            <a:ext cx="1033272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0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前端页面和后端逻辑在同一个 Django 工程中（MVT 模式），不是前后端分离；路线生成、约束检查写成独立的 Python 服务模块，可单独测试。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0000"/>
              </a:lnSpc>
              <a:spcAft>
                <a:spcPts val="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地图只负责展示，时间和门票计算都在后端完成；地图加载失败时文字行程照常显示。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前端与后端分工 · 一次请求怎样处理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28800"/>
            <a:ext cx="1325880" cy="16459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182880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88366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Django 模板 + Bootstrap 页面：景点检索、条件输入、分日行程、我的行程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表单提交与结果展示，输入有误时给出提示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腾讯地图 JS API 显示出发点、景点和访问顺序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3611880"/>
            <a:ext cx="1325880" cy="16459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03120" y="3611880"/>
            <a:ext cx="4572000" cy="1645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666744"/>
            <a:ext cx="443484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接收请求，检查登录状态和权限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调用景点检索、路线生成、约束检查、统计等服务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08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通过 ORM 读写数据库，用事务保存行程，再渲染页面返回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03720" y="1828800"/>
            <a:ext cx="5897880" cy="457200"/>
          </a:xfrm>
          <a:prstGeom prst="rect">
            <a:avLst/>
          </a:prstGeom>
          <a:solidFill>
            <a:srgbClr val="15807C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 项目结构（拟）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2286000"/>
            <a:ext cx="5897880" cy="2971800"/>
          </a:xfrm>
          <a:prstGeom prst="rect">
            <a:avLst/>
          </a:prstGeom>
          <a:solidFill>
            <a:srgbClr val="F5F8F8"/>
          </a:solidFill>
          <a:ln w="12700">
            <a:solidFill>
              <a:srgbClr val="CFE3E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395728"/>
            <a:ext cx="571500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03E9B"/>
                </a:solidFill>
                <a:latin typeface="Consolas" panose="020B0609020204030204"/>
                <a:ea typeface="微软雅黑" panose="020B0503020204020204" charset="-122"/>
              </a:rPr>
              <a:t>travel_planner/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Django 项目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accounts/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用户与权限（复用 Django Auth）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spots/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景点数据管理与检索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planner/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路线生成、约束检查（独立模块）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trips/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行程调整与管理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stats/ 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规划统计与路线规划验证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├─ templates/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页面模板（Bootstrap）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5807C"/>
                </a:solidFill>
                <a:latin typeface="Consolas" panose="020B0609020204030204"/>
                <a:ea typeface="微软雅黑" panose="020B0503020204020204" charset="-122"/>
              </a:rPr>
              <a:t>└─ static/    </a:t>
            </a:r>
            <a:r>
              <a:rPr sz="14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 CSS / JS（腾讯地图脚本）</a:t>
            </a:r>
            <a:endParaRPr sz="14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浏览器提交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「生成行程」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208483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2276856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urls.py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路由分发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584448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3776472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views.py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校验登录与参数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084064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5276088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services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生成行程并检查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583680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6775704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models.py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ORM 读写数据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083296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8275320" y="5532120"/>
            <a:ext cx="1289304" cy="86868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templates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模板渲染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5961888"/>
            <a:ext cx="173736" cy="0"/>
          </a:xfrm>
          <a:prstGeom prst="line">
            <a:avLst/>
          </a:prstGeom>
          <a:ln w="22225">
            <a:solidFill>
              <a:srgbClr val="003E9B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774936" y="5532120"/>
            <a:ext cx="1289304" cy="86868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txBody>
          <a:bodyPr wrap="square" lIns="27432" tIns="18288" rIns="27432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浏览器显示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行程与地图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653796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这就是 Django 的 MVT（模型—视图—模板）模式：</a:t>
            </a:r>
            <a:r>
              <a:rPr sz="16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一个工程里同时完成前端页面和后端逻辑。</a:t>
            </a:r>
            <a:endParaRPr sz="16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技术选型与 Python / Django 特色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913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697480"/>
                <a:gridCol w="2971800"/>
                <a:gridCol w="51663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在本系统中的作用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/ Django 特色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开发语言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3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编写后端业务和路线生成模块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语法简洁、第三方库丰富；用 datetime 按分钟计算时间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框架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组织整个项目（MVT 模式）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“自带电池”：认证、后台、ORM、模板开箱即用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认证权限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Auth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注册、登录、改密码、角色权限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密码自动哈希保存，登录会话和权限检查现成可用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Admin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维护景点、标签、出发点等数据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注册模型即自动生成增删改查后台，少写重复页面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数据访问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ORM + SQLite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保存景点、行程、规划记录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类即数据表，迁移命令自动建表；事务保证一致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前端页面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模板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检索、规划、行程等页面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模板继承复用页面布局，配合 Bootstrap 快速完成样式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地图展示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标注出发点、景点与访问顺序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只做展示，加载失败时降级为文字行程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4EA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测试管理</a:t>
                      </a:r>
                      <a:endParaRPr sz="1400" b="0">
                        <a:solidFill>
                          <a:srgbClr val="004EA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Django 测试框架 + Git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功能测试、越权测试、场景验证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路线模块是独立 Python 模块，可脱离页面单独测试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Python 特色体现：用 Django 现成的认证、后台和 ORM 快速搭好基础功能，把精力放在路线生成、约束检查和行程调整等核心业务上。</a:t>
            </a:r>
            <a:endParaRPr sz="16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系统接口设计：页面接口 · 内部接口 · 外部接口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12024360" cy="3895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3017520"/>
                <a:gridCol w="3977640"/>
                <a:gridCol w="384048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接口（拟定路由）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 / 说明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384048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景点查询　GET /spots/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关键词、区域、类型、门票价格区间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景点列表、景点详情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生成行程　POST /plans/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日期、天数、出发点、每日时间、兴趣、预算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分日行程；未生成完整行程时返回冲突清单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我的行程　/trips/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行程编号；替换景点、调整顺序、删除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重新检查后的行程（只能操作本人行程）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后台与统计　/admin/ /stats/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基础数据；按时间、天数、来源筛选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维护结果、统计汇总（仅管理员）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路线生成服务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规划参数 + 候选景点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分日行程 或 冲突清单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约束检查服务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一条完整行程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逐项检查结果（生成与调整共用）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筛选条件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汇总指标（统计页与验证共用）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外部接口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 JS API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出发点、景点坐标、访问顺序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地图点位与顺序连线（只展示）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384048">
                <a:tc vMerge="1"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E46C0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腾讯地图路径规划服务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两个地点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有方向的驾车距离与耗时，存为交通矩阵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77240" y="5943600"/>
            <a:ext cx="73152" cy="65836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5943600"/>
            <a:ext cx="10213848" cy="65836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说明：</a:t>
            </a:r>
            <a:r>
              <a:rPr sz="1550" b="0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本系统是 Django 模板页面，页面接口就是 URL 路由对应的视图；路由名称为拟定，以实际开发为准。</a:t>
            </a:r>
            <a:endParaRPr sz="1550" b="0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主要数据类与增删改查权限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828800"/>
          <a:ext cx="626364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388620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数据类（拟定）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主要内容 / 职责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 用户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 Django Auth：账号、密码哈希、角色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Spot 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名称、位置、类型、标签、门票、开放时间、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建议游玩时长、资料来源、有效状态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基础数据类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Tag 兴趣标签、Region 区域分类、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StartPoint 预设出发点（每日起终点）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TravelLeg 交通路段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两地点间的驾车距离与耗时、数据版本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 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所属用户、天数、门票合计、数据版本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ItineraryItem 行程明细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分日顺序与到达、游玩、返程时间快照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PlanRecord 规划记录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记录来源、结果状态、失败原因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3760" y="1828800"/>
          <a:ext cx="5577840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777240"/>
                <a:gridCol w="1783080"/>
                <a:gridCol w="16916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游客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普通用户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管理员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1580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景点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设为失效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行程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（仅本人）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只看统计汇总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基础数据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增、删、改、查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改本人密码与信息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账号管理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角色分配、禁用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3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3E9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日志与统计</a:t>
                      </a:r>
                      <a:endParaRPr sz="1400" b="1">
                        <a:solidFill>
                          <a:srgbClr val="003E9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查看</a:t>
                      </a:r>
                      <a:endParaRPr sz="14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5D3E8"/>
                      </a:solidFill>
                      <a:prstDash val="solid"/>
                    </a:lnL>
                    <a:lnR w="9525" cap="flat" cmpd="sng" algn="ctr">
                      <a:solidFill>
                        <a:srgbClr val="C5D3E8"/>
                      </a:solidFill>
                      <a:prstDash val="solid"/>
                    </a:lnR>
                    <a:lnT w="9525" cap="flat" cmpd="sng" algn="ctr">
                      <a:solidFill>
                        <a:srgbClr val="C5D3E8"/>
                      </a:solidFill>
                      <a:prstDash val="solid"/>
                    </a:lnT>
                    <a:lnB w="9525" cap="flat" cmpd="sng" algn="ctr">
                      <a:solidFill>
                        <a:srgbClr val="C5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23760" y="5120640"/>
            <a:ext cx="5577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5000"/>
              </a:lnSpc>
              <a:spcAft>
                <a:spcPts val="2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基础数据含标签、区域、出发点和交通数据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5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被历史行程引用的景点只设为失效、不物理删除，保证旧行程可追溯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5989320"/>
            <a:ext cx="73152" cy="73152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" y="5989320"/>
            <a:ext cx="10213848" cy="731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rIns="137160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身份认证：复用 Django Auth，密码哈希保存，登录后建立会话；查询行程按所属用户过滤，访问他人行程会被拒绝（列入越权测试）。</a:t>
            </a:r>
            <a:endParaRPr sz="155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进度安排与预期成果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822960" y="2761488"/>
            <a:ext cx="12024360" cy="0"/>
          </a:xfrm>
          <a:prstGeom prst="line">
            <a:avLst/>
          </a:prstGeom>
          <a:ln w="28575">
            <a:solidFill>
              <a:srgbClr val="004EA2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34747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1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2026.10.08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71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选题、开题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5798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2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2026.10.17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2026.10.21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93522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0370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开题答辩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8496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</a:t>
            </a:r>
            <a:endParaRPr sz="1600" b="1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2026.10.22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2026.12.22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718304" y="2624328"/>
            <a:ext cx="274320" cy="274320"/>
          </a:xfrm>
          <a:prstGeom prst="ellipse">
            <a:avLst/>
          </a:prstGeom>
          <a:solidFill>
            <a:srgbClr val="E46C0A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3017520"/>
            <a:ext cx="1682496" cy="603504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完成论文（设计）初稿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9008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4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2026.12.23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2027.01.15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556248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4728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完成论文（设计）二稿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5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2027.01.16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2027.02.28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366760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完成论文（设计）定稿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00032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6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2027.03.01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2027.03.15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177272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45752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论文交叉评阅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10544" y="1810512"/>
            <a:ext cx="177393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6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阶段 7</a:t>
            </a:r>
            <a:endParaRPr sz="1600" b="1">
              <a:solidFill>
                <a:srgbClr val="004E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2027.03.16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至 2027.04.18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987784" y="2651760"/>
            <a:ext cx="219456" cy="219456"/>
          </a:xfrm>
          <a:prstGeom prst="ellipse">
            <a:avLst/>
          </a:prstGeom>
          <a:solidFill>
            <a:srgbClr val="004EA2"/>
          </a:solidFill>
          <a:ln w="25400">
            <a:solidFill>
              <a:srgbClr val="FFFFFF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3017520"/>
            <a:ext cx="1682496" cy="603504"/>
          </a:xfrm>
          <a:prstGeom prst="rect">
            <a:avLst/>
          </a:prstGeom>
          <a:solidFill>
            <a:srgbClr val="EEF4FB"/>
          </a:solidFill>
          <a:ln w="12700">
            <a:solidFill>
              <a:srgbClr val="C5D3E8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第 1、2 次答辩</a:t>
            </a:r>
            <a:endParaRPr sz="14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7240" y="3767328"/>
            <a:ext cx="12024360" cy="420624"/>
          </a:xfrm>
          <a:prstGeom prst="rect">
            <a:avLst/>
          </a:prstGeom>
          <a:solidFill>
            <a:srgbClr val="FDF3EA"/>
          </a:solidFill>
          <a:ln w="12700">
            <a:solidFill>
              <a:srgbClr val="F3C9A3"/>
            </a:solidFill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</a:rPr>
              <a:t>阶段 3 开发顺序（拟）：</a:t>
            </a:r>
            <a:r>
              <a:rPr sz="145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 → 整理景点数据 → 核心功能编码 → 行程管理与地图 → 统计验证与测试 → 论文初稿</a:t>
            </a:r>
            <a:endParaRPr sz="145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4389120"/>
            <a:ext cx="5486400" cy="4572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7240" y="4846320"/>
            <a:ext cx="5486400" cy="1874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10328"/>
            <a:ext cx="5257800" cy="1792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原型系统：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可在个人电脑运行的 Django 系统，用户生成并调整 1—3 日行程，管理员维护数据、查看统计。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6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提交材料：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系统源代码、案例数据说明、需求与设计文档、测试记录和毕业论文。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01295" indent="-201295">
              <a:lnSpc>
                <a:spcPct val="112000"/>
              </a:lnSpc>
              <a:spcAft>
                <a:spcPts val="400"/>
              </a:spcAft>
              <a:buClr>
                <a:srgbClr val="004EA2"/>
              </a:buClr>
              <a:buFont typeface="Arial" panose="020B0604020202020204"/>
              <a:buChar char="•"/>
            </a:pPr>
            <a:r>
              <a:rPr sz="1500" b="1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验收重点：</a:t>
            </a: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时间和门票计算正确，违反条件能被发现，固定场景能重复跑出同样结果。</a:t>
            </a:r>
            <a:endParaRPr sz="15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92240" y="4389120"/>
            <a:ext cx="4617720" cy="457200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182880" tIns="27432" bIns="27432" rtlCol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本课题特色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92240" y="4919472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160" y="4919472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规则可检查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时间与门票逐项检查，用 15 组固定场景验证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92240" y="5532120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95160" y="5532120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调整后即时复查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改动后自动重算，指出冲突景点和超出多少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92240" y="6144768"/>
            <a:ext cx="502920" cy="566928"/>
          </a:xfrm>
          <a:prstGeom prst="rect">
            <a:avLst/>
          </a:prstGeom>
          <a:solidFill>
            <a:srgbClr val="003E9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995160" y="6144768"/>
            <a:ext cx="4114800" cy="5669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37160" tIns="18288" bIns="18288" rtlCol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03E9B"/>
                </a:solidFill>
                <a:latin typeface="微软雅黑" panose="020B0503020204020204" charset="-122"/>
                <a:ea typeface="微软雅黑" panose="020B0503020204020204" charset="-122"/>
              </a:rPr>
              <a:t>结果可追溯</a:t>
            </a:r>
            <a:endParaRPr sz="1500" b="1">
              <a:solidFill>
                <a:srgbClr val="003E9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保留结果、数据版本和检查记录，可回查明细</a:t>
            </a:r>
            <a:endParaRPr sz="1300" b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pitchFamily="34" charset="-122"/>
                <a:ea typeface="思源黑体 CN Medium" pitchFamily="34" charset="-122"/>
              </a:rPr>
              <a:t>THANKS !</a:t>
            </a:r>
            <a:endParaRPr lang="en-US" altLang="zh-CN" sz="9600" dirty="0">
              <a:solidFill>
                <a:srgbClr val="003E9B"/>
              </a:solidFill>
              <a:latin typeface="思源黑体 CN Medium" pitchFamily="34" charset="-122"/>
              <a:ea typeface="思源黑体 CN Medium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2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　用户与权限管理模块用例图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469" y="1847088"/>
            <a:ext cx="504255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附图2　景点数据管理模块用例图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54" y="1847088"/>
            <a:ext cx="501417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附图3　景点检索模块用例图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535" y="1847088"/>
            <a:ext cx="5448418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附图4　路线规划模块用例图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76" y="1847088"/>
            <a:ext cx="595793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附图5　约束检查与冲突解释模块用例图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79" y="1847088"/>
            <a:ext cx="580573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附图6　行程调整与管理模块用例图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30" y="1847088"/>
            <a:ext cx="53922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附图7　地图与结果展示模块用例图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83" y="1847088"/>
            <a:ext cx="679212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附图8　后台数据维护模块用例图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47" y="1847088"/>
            <a:ext cx="532979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附图9　规划统计分析模块用例图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46" y="1847088"/>
            <a:ext cx="576659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附图10　路线规划验证模块用例图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35" y="1847088"/>
            <a:ext cx="618801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附图11　系统总体用例图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916" y="1847088"/>
            <a:ext cx="4453655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68950" y="1287467"/>
            <a:ext cx="11521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4EA2"/>
                </a:solidFill>
                <a:latin typeface="微软雅黑" panose="020B0503020204020204" charset="-122"/>
                <a:ea typeface="微软雅黑" panose="020B0503020204020204" charset="-122"/>
              </a:rPr>
              <a:t>附图12　系统功能模块图</a:t>
            </a:r>
            <a:endParaRPr lang="zh-CN" altLang="en-US" sz="2400" dirty="0">
              <a:solidFill>
                <a:srgbClr val="004EA2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84" y="1847088"/>
            <a:ext cx="1014703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5718</Words>
  <Application>WPS 演示</Application>
  <PresentationFormat>自定义</PresentationFormat>
  <Paragraphs>829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思源黑体 CN Medium</vt:lpstr>
      <vt:lpstr>黑体</vt:lpstr>
      <vt:lpstr>思源黑体 CN Bold</vt:lpstr>
      <vt:lpstr>Arial</vt:lpstr>
      <vt:lpstr>Consolas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Assassin</cp:lastModifiedBy>
  <cp:revision>394</cp:revision>
  <dcterms:created xsi:type="dcterms:W3CDTF">1900-01-01T00:00:00Z</dcterms:created>
  <dcterms:modified xsi:type="dcterms:W3CDTF">2026-10-14T13:15:07Z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821A34E81B1A4AF4ADA60DA69F99947E_13</vt:lpwstr>
  </property>
</Properties>
</file>