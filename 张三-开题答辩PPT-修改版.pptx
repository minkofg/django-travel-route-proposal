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368" r:id="rId3"/>
    <p:sldId id="369" r:id="rId5"/>
    <p:sldId id="370" r:id="rId6"/>
    <p:sldId id="371" r:id="rId7"/>
    <p:sldId id="381" r:id="rId8"/>
    <p:sldId id="382" r:id="rId9"/>
    <p:sldId id="373" r:id="rId10"/>
    <p:sldId id="384" r:id="rId11"/>
    <p:sldId id="385" r:id="rId12"/>
    <p:sldId id="386" r:id="rId13"/>
    <p:sldId id="374" r:id="rId14"/>
    <p:sldId id="375" r:id="rId15"/>
    <p:sldId id="376" r:id="rId16"/>
    <p:sldId id="378" r:id="rId17"/>
    <p:sldId id="379" r:id="rId18"/>
    <p:sldId id="380" r:id="rId19"/>
    <p:sldId id="372" r:id="rId20"/>
    <p:sldId id="377" r:id="rId21"/>
    <p:sldId id="387" r:id="rId22"/>
    <p:sldId id="383" r:id="rId23"/>
  </p:sldIdLst>
  <p:sldSz cx="13679170" cy="791972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956171A-8F56-45EB-834E-C38C95D5B937}">
          <p14:sldIdLst>
            <p14:sldId id="368"/>
            <p14:sldId id="369"/>
            <p14:sldId id="370"/>
            <p14:sldId id="371"/>
            <p14:sldId id="381"/>
            <p14:sldId id="382"/>
            <p14:sldId id="373"/>
            <p14:sldId id="384"/>
            <p14:sldId id="385"/>
            <p14:sldId id="386"/>
            <p14:sldId id="374"/>
            <p14:sldId id="375"/>
            <p14:sldId id="376"/>
            <p14:sldId id="378"/>
            <p14:sldId id="379"/>
            <p14:sldId id="380"/>
            <p14:sldId id="372"/>
            <p14:sldId id="377"/>
            <p14:sldId id="387"/>
            <p14:sldId id="383"/>
          </p14:sldIdLst>
        </p14:section>
        <p14:section name="组织宣传" id="{F787C6D9-7CF9-4852-92D5-9342800D3C0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469" userDrawn="1">
          <p15:clr>
            <a:srgbClr val="A4A3A4"/>
          </p15:clr>
        </p15:guide>
        <p15:guide id="2" pos="43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亚瑟的 豆豆" initials="亚瑟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E9B"/>
    <a:srgbClr val="004EA2"/>
    <a:srgbClr val="0F60B7"/>
    <a:srgbClr val="00B097"/>
    <a:srgbClr val="B8183F"/>
    <a:srgbClr val="E7E6E6"/>
    <a:srgbClr val="F6F6F6"/>
    <a:srgbClr val="EDEDED"/>
    <a:srgbClr val="E7F5F8"/>
    <a:srgbClr val="1A6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-564" y="-90"/>
      </p:cViewPr>
      <p:guideLst>
        <p:guide orient="horz" pos="2469"/>
        <p:guide pos="43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-3972" y="-114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【第1页】基于Django的短途旅游路线规划系统设计与实现</a:t>
            </a:r>
          </a:p>
          <a:p>
            <a:r>
              <a:t>【建议用时】8分钟版20秒；5分钟版10秒。提问另计。</a:t>
            </a:r>
          </a:p>
          <a:p>
            <a:r>
              <a:t>【本页记住】我要做一个能生成、能调整、能检查的短途行程规划原型。</a:t>
            </a:r>
          </a:p>
          <a:p/>
          <a:p>
            <a:r>
              <a:t>【8分钟逐页讲稿】</a:t>
            </a:r>
          </a:p>
          <a:p>
            <a:r>
              <a:t>各位老师好，我是张三。我的开题题目是《基于Django的短途旅游路线规划系统设计与实现》。本课题以长沙及周边的驾车出行为案例，计划完成路线生成、行程调整和约束检查。下面从选题、方案和验证计划三个方面汇报。</a:t>
            </a:r>
          </a:p>
          <a:p/>
          <a:p>
            <a:r>
              <a:t>【5分钟精简讲法】</a:t>
            </a:r>
          </a:p>
          <a:p>
            <a:r>
              <a:t>各位老师好，我是张三。我的课题是基于Django的短途旅游路线规划系统，以下汇报长沙驾车案例的设计与验证计划。</a:t>
            </a:r>
          </a:p>
          <a:p/>
          <a:p>
            <a:r>
              <a:t>【动作提示】看老师，报姓名和题目；不要把整页封面逐字念完。</a:t>
            </a:r>
          </a:p>
          <a:p>
            <a:r>
              <a:t>【诚实边界】这是一份开题方案汇报，不是已完成系统的成果展示。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【第2页】选题背景与研究定位</a:t>
            </a:r>
          </a:p>
          <a:p>
            <a:r>
              <a:t>【建议用时】8分钟版35秒；5分钟版20秒。提问另计。</a:t>
            </a:r>
          </a:p>
          <a:p>
            <a:r>
              <a:t>【本页记住】想去哪些地方，不等于当天真的走得完。</a:t>
            </a:r>
          </a:p>
          <a:p/>
          <a:p>
            <a:r>
              <a:t>【8分钟逐页讲稿】</a:t>
            </a:r>
          </a:p>
          <a:p>
            <a:r>
              <a:t>这个课题想解决的不是景点资料不够多，而是把想去的地方安排成能执行的行程。比如一条路线距离不远，也可能因为景点闭馆较早、游玩时间太长，或者没有留返程时间而走不完。相关方法包括景点推荐和带时间窗的行程规划。本课题不追求替代商业平台，也不提出新的理论算法，而是在小规模案例中把路线生成、调整和检查做成一个完整的Web流程。</a:t>
            </a:r>
          </a:p>
          <a:p/>
          <a:p>
            <a:r>
              <a:t>【5分钟精简讲法】</a:t>
            </a:r>
          </a:p>
          <a:p>
            <a:r>
              <a:t>路线距离近，不代表时间上能完成。本课题关注开放时间、游玩时长和返程约束，在小规模案例中实现可生成、可调整、可检查的行程，不与商业平台比功能多少。</a:t>
            </a:r>
          </a:p>
          <a:p/>
          <a:p>
            <a:r>
              <a:t>【动作提示】先讲一个具体困难，再指向“本课题重点”，不要泛讲旅游行业前景。</a:t>
            </a:r>
          </a:p>
          <a:p>
            <a:r>
              <a:t>【诚实边界】研究方向是概括性说明；12条文献尚需本人逐条核实，不能声称已精读全部原文。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【第3页】研究范围与约束边界</a:t>
            </a:r>
          </a:p>
          <a:p>
            <a:r>
              <a:t>【建议用时】8分钟版30秒；5分钟版20秒。提问另计。</a:t>
            </a:r>
          </a:p>
          <a:p>
            <a:r>
              <a:t>【本页记住】长沙、驾车、20—30个景点、1—3日，先把范围做小。</a:t>
            </a:r>
          </a:p>
          <a:p/>
          <a:p>
            <a:r>
              <a:t>【8分钟逐页讲稿】</a:t>
            </a:r>
          </a:p>
          <a:p>
            <a:r>
              <a:t>案例范围确定为长沙及周边，计划整理二十到三十个景点，交通方式固定为驾车，支持一至三日行程。用户从预设出发点中选择一处，每天出发并返回同一点，每天至少安排一个景点，跨日不重复。为了控制毕业设计的工作量，本次不处理住宿选址、餐饮预订和实时拥堵预测。费用只计算门票，其他开销不包含在预算指标里。</a:t>
            </a:r>
          </a:p>
          <a:p/>
          <a:p>
            <a:r>
              <a:t>【5分钟精简讲法】</a:t>
            </a:r>
          </a:p>
          <a:p>
            <a:r>
              <a:t>范围限定为长沙及周边、驾车、二十到三十个景点和一至三日。每天从同一预设点出发并返回，门票单独预算，不扩展到住宿和实时拥堵。</a:t>
            </a:r>
          </a:p>
          <a:p/>
          <a:p>
            <a:r>
              <a:t>【动作提示】指四个关键数字与范围；把“不做什么”说清楚。</a:t>
            </a:r>
          </a:p>
          <a:p>
            <a:r>
              <a:t>【诚实边界】景点数量是计划规模，具体名单和出发点坐标尚未确定。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系统功能与使用流程】讲稿（约35秒）：系统按使用流程是输入条件、生成行程、交互调整、重新检查、保存展示。功能上一共十个模块：用户与权限、景点数据、景点检索、路线规划、行程调整、地图展示、约束检查、后台维护、规划统计和路线规划验证。下一页模块图就是这十个模块的完整结构。管理员在后台维护账号、景点与基础数据，并查看操作记录和规划统计。核心原则是有冲突先提示，重新校验通过后再保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系统功能模块】讲稿（约40秒）：这是十个模块的完整结构。中间是核心计算，路线规划负责生成顺序，约束检查负责复核时间、返程和门票。左边和上边是用户直接用的部分，包括账号、景点数据与检索、行程调整和地图展示。右边是管理员支撑，包括后台数据维护、规划统计和固定场景验证。讲的时候不要逐个念模块名，先说核心是哪两个，再说用户侧和管理员侧各管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三类角色】讲稿（约35秒）：系统使用者分三类。游客是未登录状态，可以浏览景点并注册账号；普通用户登录后查询景点、生成和调整行程、管理自己的历史行程；管理员负责账号权限、基础数据维护、异常记录和规划统计。腾讯地图不是系统角色，是外部展示服务。普通用户只能处理自己的行程，管理员原则上只看汇总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系统架构】讲稿（约40秒）：架构分三层。前端在浏览器里，是Django模板、Bootstrap页面和地图JavaScript，负责显示和接收操作。后端是Django，负责收请求、查登录和权限，再调用检索、路线生成、约束复核和统计这些业务服务。数据层用ORM管理景点、出发点、交通路段、行程和规划记录，先用SQLite本地演示。本系统不是前后端分离项目，前端和后端在同一个Django工程里，这样讲最准确。腾讯地图只负责展示，不替代后端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【系统接口】本页记住：接口分三类，不要只说腾讯地图。</a:t>
            </a:r>
          </a:p>
          <a:p>
            <a:r>
              <a:t>讲稿（约40秒）：本系统是 Django 模板页面，不是前后端分离，所以接口分三类。页面接口是用户直接用的：景点查询、生成行程、我的行程的查看替换调序和删除。内部接口是模块之间的约定，比如规划服务输入出发点、日期、兴趣和预算，输出分日行程或冲突清单。外部接口只有腾讯地图 JavaScript 接口，负责显示点位和访问顺序，加载失败时保留文字行程。后台维护和统计走 Django Admin 和统计页，只有管理员能进。</a:t>
            </a:r>
          </a:p>
          <a:p>
            <a:r>
              <a:t>动作提示：从上到下指三类接口各一行，不要展开每个参数。</a:t>
            </a:r>
          </a:p>
          <a:p>
            <a:r>
              <a:t>边界：接口是拟设计，最终以实现为准。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【类与数据】本页记住：每个类一句话职责。</a:t>
            </a:r>
          </a:p>
          <a:p>
            <a:r>
              <a:t>讲稿（约45秒）：数据这边，Spot 管一条景点资料，标签、区域和出发点是基础数据；Itinerary 是一次完整行程，属于某个用户，它下面的明细记录每天去哪个景点和时间快照，规划记录用来统计和回查。业务这边，RoutePlanner 负责逐日构造行程，ConstraintChecker 统一复核时间、返程、预算和重复，统计服务把日常记录和固定场景分开算。关系上一句话：一个用户有多条行程，一条行程有多天明细，交通路段连接两个地点、分方向、带数据版本。</a:t>
            </a:r>
          </a:p>
          <a:p>
            <a:r>
              <a:t>动作提示：每个类只说负责什么，被问字段再展开。</a:t>
            </a:r>
          </a:p>
          <a:p>
            <a:r>
              <a:t>边界：类和字段是拟设计，以最终实现为准。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【增删改查与身份认证】本页记住：谁能对什么数据做什么，行程只看自己的。</a:t>
            </a:r>
          </a:p>
          <a:p>
            <a:r>
              <a:t>讲稿（约45秒）：增删改查按角色分。景点普通用户只能查，管理员能增、改和设为失效，被历史行程引用的不物理删除。行程是用户自己的数据，可以生成保存、查看、修改和删除，但都只限本人。标签、出发点和交通数据由管理员维护，账号可以禁用异常的。身份认证用 Django Auth，密码哈希保存，登录后建会话，查行程时只查自己的，改地址里的编号访问别人的会被拒绝，这个会做成越权测试用例。管理员才能进后台维护和统计。</a:t>
            </a:r>
          </a:p>
          <a:p>
            <a:r>
              <a:t>动作提示：先指表格讲增删改查，再指下面一行讲认证。</a:t>
            </a:r>
          </a:p>
          <a:p>
            <a:r>
              <a:t>边界：连续登录失败限制重试不是 Django 默认功能，不要说成框架自带。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【第7页】数据来源与交通矩阵</a:t>
            </a:r>
          </a:p>
          <a:p>
            <a:r>
              <a:t>【建议用时】8分钟版35秒；5分钟版20秒。提问另计。</a:t>
            </a:r>
          </a:p>
          <a:p>
            <a:r>
              <a:t>【本页记住】先准备可追溯的数据，验证时固定使用同一版本。</a:t>
            </a:r>
          </a:p>
          <a:p/>
          <a:p>
            <a:r>
              <a:t>【8分钟逐页讲稿】</a:t>
            </a:r>
          </a:p>
          <a:p>
            <a:r>
              <a:t>景点资料计划从景区或文旅部门公开信息中整理，记录来源和采集日期。交通矩阵可以理解为一张表，记录从一个点开车到另一个点需要的距离和时间，既包括景点之间，也包括出发点的去程与返程。两个方向不一定相同。平台数据要遵守授权、配额和保存规则，同批实验固定一个版本。如果正式实验拿不到平台数据，会统一使用明确标注的模拟矩阵，并说明它不能验证真实道路上的可达性。</a:t>
            </a:r>
          </a:p>
          <a:p/>
          <a:p>
            <a:r>
              <a:t>【5分钟精简讲法】</a:t>
            </a:r>
          </a:p>
          <a:p>
            <a:r>
              <a:t>景点资料记录官方来源和采集日期；交通矩阵保存有方向的驾车距离与耗时，包含出发点往返。实验固定版本。若平台数据不可得，统一用标注清楚的模拟矩阵，不混用或冒充真实道路数据。</a:t>
            </a:r>
          </a:p>
          <a:p/>
          <a:p>
            <a:r>
              <a:t>【动作提示】解释“矩阵就是点到点的时间表”；说明授权与模拟数据边界。</a:t>
            </a:r>
          </a:p>
          <a:p>
            <a:r>
              <a:t>【诚实边界】目前没有已完成的景点清单或平台授权证据；不能说已经采集完数据。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路线生成调用过程】讲稿（约35秒）：这一页只讲系统怎么调用，不讲算法细节。前端把出发点、日期、兴趣和门票预算提交给后端，后端先读有效景点和交通路段数据，规划服务生成分日访问顺序，再交给校验服务统一复核，全部通过才保存。如果没生成完整行程，就返回冲突清单，告诉用户卡在哪，由用户改条件。老师如果追问景点按什么顺序选，翻到备查页，用一句话回答选择规则，不要在这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【如何验证】本页记住：只验证这一种方法能不能生成合规行程。</a:t>
            </a:r>
          </a:p>
          <a:p>
            <a:r>
              <a:t>讲稿（约35秒）：验证分三部分。固定场景十五组，一日、二日、三日各五组，只跑报告里这一种贪心方法，逐组检查生成的行程是否满足全部约束，记录成功失败、景点数量、耗时、门票和失败原因。功能测试走注册登录、检索、替换保存和统计这些正常流程。异常测试单独查错误日期、负预算、空候选、地图加载失败和越权访问，不混进十五组。这个验证只说明方法在本案例数据上能不能用，不和其他方法比高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【第11页】进度安排与阶段交付</a:t>
            </a:r>
          </a:p>
          <a:p>
            <a:r>
              <a:t>【建议用时】8分钟版45秒；5分钟版25秒。提问另计。</a:t>
            </a:r>
          </a:p>
          <a:p>
            <a:r>
              <a:t>【本页记住】先做最小闭环，再扩展与测试；按报告原定日期推进。</a:t>
            </a:r>
          </a:p>
          <a:p/>
          <a:p>
            <a:r>
              <a:t>【8分钟逐页讲稿】</a:t>
            </a:r>
          </a:p>
          <a:p>
            <a:r>
              <a:t>进度按开题报告原计划推进。十月完成开题论证，十月二十二日至十二月二十二日完成案例数据、设计和核心算法初步实现，形成初稿；随后至次年一月十五日完善核心功能，形成二稿；一月十六日至二月底联调、测试并完成定稿；三月至五月完成评阅、答辩和归档。开发顺序上，先做单日路线和文字结果，再扩展多日、调整、地图和统计，避免一开始铺开所有模块。当前材料呈现的是方案，实际代码与实验进度需要按真实记录汇报。</a:t>
            </a:r>
          </a:p>
          <a:p/>
          <a:p>
            <a:r>
              <a:t>【5分钟精简讲法】</a:t>
            </a:r>
          </a:p>
          <a:p>
            <a:r>
              <a:t>按报告计划，先完成开题、数据和设计，再推进核心开发；一月至二月联调测试，三月至五月评阅答辩归档。先做单日路线和文字结果，再扩展多日、地图和统计。</a:t>
            </a:r>
          </a:p>
          <a:p/>
          <a:p>
            <a:r>
              <a:t>【动作提示】指时间轴，讲先后关系，不必逐个念日期。最后一句按本人真实进度更新。</a:t>
            </a:r>
          </a:p>
          <a:p>
            <a:r>
              <a:t>【诚实边界】不要把时间表里计划完成的内容说成已经完成；正式答辩前核对学校最新安排。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【第12页】项目特色、风险与预期成果</a:t>
            </a:r>
          </a:p>
          <a:p>
            <a:r>
              <a:t>【建议用时】8分钟版40秒；5分钟版15秒。提问另计。</a:t>
            </a:r>
          </a:p>
          <a:p>
            <a:r>
              <a:t>【本页记住】特色是规则落地和可追溯验证，不是“发明一个全新算法”。</a:t>
            </a:r>
          </a:p>
          <a:p/>
          <a:p>
            <a:r>
              <a:t>【8分钟逐页讲稿】</a:t>
            </a:r>
          </a:p>
          <a:p>
            <a:r>
              <a:t>本项目的特色主要体现在工程实现：调整行程后给出具体检查结果，运行统计和实验共用指标定义，并且能追溯到数据版本和明细。主要风险有交通数据取得受限、估计时间与实际情况有误差，以及功能范围过大。应对上，分别采用合规数据方案、如实标注误差和分阶段开发。预期交付可运行原型、案例数据说明、源代码、测试材料和论文。最终是否有效，需要由后续测试说明，而不是现在预设提升结论。</a:t>
            </a:r>
          </a:p>
          <a:p/>
          <a:p>
            <a:r>
              <a:t>【5分钟精简讲法】</a:t>
            </a:r>
          </a:p>
          <a:p>
            <a:r>
              <a:t>项目特色是调整后检查、统一统计和可追溯测试。主要风险通过数据合规、误差说明和分阶段开发控制。预期交付原型、代码、数据说明、测试材料和论文，不预设实验提升结论。</a:t>
            </a:r>
          </a:p>
          <a:p/>
          <a:p>
            <a:r>
              <a:t>【动作提示】把特色说成具体功能，不说“填补国内外空白”。</a:t>
            </a:r>
          </a:p>
          <a:p>
            <a:r>
              <a:t>【诚实边界】不声称理论创新、全局最优、用户满意度提升或已达到性能指标。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【结束】讲稿（约10秒）：以上是我的开题方案汇报。后续我将重点落实数据准备、系统实现和固定场景验证。请各位老师批评指正，谢谢。</a:t>
            </a:r>
          </a:p>
          <a:p>
            <a:r>
              <a:t>动作提示：停在这一页，不要翻到备查页。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【第5页】时间约束怎样检查：一个虚拟算例</a:t>
            </a:r>
          </a:p>
          <a:p>
            <a:r>
              <a:t>【建议用时】8分钟版40秒；5分钟版30秒。提问另计。</a:t>
            </a:r>
          </a:p>
          <a:p>
            <a:r>
              <a:t>【本页记住】总时间不仅有开车和游玩，还要加等待与返程。</a:t>
            </a:r>
          </a:p>
          <a:p/>
          <a:p>
            <a:r>
              <a:t>【8分钟逐页讲稿】</a:t>
            </a:r>
          </a:p>
          <a:p>
            <a:r>
              <a:t>这一页是教学用的虚拟算例，不是真实长沙景点数据。假设九点出发，开车三十分钟到A，但A十点开放，所以还要等待三十分钟。游玩一小时后，再开二十分钟到B，游玩四十分钟，最后返程四十分钟，十二点四十分回到出发点。这样总共二百二十分钟。系统需要检查游玩结束是否早于闭馆时间、返程是否超过当天时限，以及门票是否超预算，而不是只把两处景点的游玩时间相加。</a:t>
            </a:r>
          </a:p>
          <a:p/>
          <a:p>
            <a:r>
              <a:t>【5分钟精简讲法】</a:t>
            </a:r>
          </a:p>
          <a:p>
            <a:r>
              <a:t>这是虚拟算例：九点出发，到A后等到十点开放，再游玩、去B并返程，十二点四十分返回，共二百二十分钟。它说明总时间要包含等待和返程，并检查闭馆、返回时限和门票预算。</a:t>
            </a:r>
          </a:p>
          <a:p/>
          <a:p>
            <a:r>
              <a:t>【动作提示】沿时间条顺序讲；不用现场心算，记住220分钟、12:40返回。</a:t>
            </a:r>
          </a:p>
          <a:p>
            <a:r>
              <a:t>【诚实边界】A、B、时间和票价仅用于解释规则，不能称为采集数据或实验结果。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【第10页】规划统计：失败也要分清楚</a:t>
            </a:r>
          </a:p>
          <a:p>
            <a:r>
              <a:t>【建议用时】8分钟版35秒；5分钟版25秒。提问另计。</a:t>
            </a:r>
          </a:p>
          <a:p>
            <a:r>
              <a:t>【本页记住】输入错、程序错、算法没找到和成功，不是一回事。</a:t>
            </a:r>
          </a:p>
          <a:p/>
          <a:p>
            <a:r>
              <a:t>【8分钟逐页讲稿】</a:t>
            </a:r>
          </a:p>
          <a:p>
            <a:r>
              <a:t>统计模块把结果分成输入错误、系统异常、算法未找到完整行程和成功四类。日常运行可行率以输入通过、算法正常结束的有效请求为分母，输入错误和系统异常另外统计。耗时与门票的平均值只使用成功结果，并标出样本数，不能把失败记成零。日常运行和固定场景实验分别保存来源与批次；比较不同算法的耗时、费用时，还要看它们共同成功的场景，避免不同样本造成误导。</a:t>
            </a:r>
          </a:p>
          <a:p/>
          <a:p>
            <a:r>
              <a:t>【5分钟精简讲法】</a:t>
            </a:r>
          </a:p>
          <a:p>
            <a:r>
              <a:t>结果分四类，运行可行率只对有效请求计算。耗时和门票均值只用成功样本并标数量。日常运行与算法实验分开，算法优劣还要在共同成功的场景中比较。</a:t>
            </a:r>
          </a:p>
          <a:p/>
          <a:p>
            <a:r>
              <a:t>【动作提示】指四类状态，再解释“失败不记零”。</a:t>
            </a:r>
          </a:p>
          <a:p>
            <a:r>
              <a:t>【诚实边界】统计看板是计划功能，不是已经收集到的真实用户使用数据。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备查：路线选择规则】只在老师追问时翻。回答一句话：先筛掉失效和不符合条件的景点，再逐日添加，兴趣标签重合多的优先、重合相同选新增交通等待游玩时间少的，每次预留返程并检查开放时间、闭馆、返程时限和门票预算；不保证全局最优，没生成完整行程不等于必然无解。不要展开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【备查三：接口与类】老师问接口或类时翻这一页。页面接口、内部接口、外部接口分开说；类只说职责：Spot 管景点资料，Itinerary 管行程归属与摘要，明细管分日顺序和时间快照，TravelLeg 管有方向的路段耗时。权限边界：普通用户只访问本人行程，管理员维护数据并查看汇总统计。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6827"/>
            <a:ext cx="13747750" cy="7952740"/>
          </a:xfrm>
          <a:prstGeom prst="rect">
            <a:avLst/>
          </a:prstGeom>
        </p:spPr>
      </p:pic>
      <p:pic>
        <p:nvPicPr>
          <p:cNvPr id="9" name="图片 8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7" y="433989"/>
            <a:ext cx="3076718" cy="527254"/>
          </a:xfrm>
          <a:prstGeom prst="rect">
            <a:avLst/>
          </a:prstGeom>
        </p:spPr>
      </p:pic>
      <p:pic>
        <p:nvPicPr>
          <p:cNvPr id="24" name="图片 23" descr="广科辅助"/>
          <p:cNvPicPr>
            <a:picLocks noChangeAspect="1"/>
          </p:cNvPicPr>
          <p:nvPr/>
        </p:nvPicPr>
        <p:blipFill>
          <a:blip r:embed="rId3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5" name="V6_content_25"/>
          <p:cNvSpPr txBox="1"/>
          <p:nvPr/>
        </p:nvSpPr>
        <p:spPr>
          <a:xfrm>
            <a:off x="3291840" y="1901952"/>
            <a:ext cx="97840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本科毕业设计开题答辩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V6_content_26"/>
          <p:cNvSpPr txBox="1"/>
          <p:nvPr/>
        </p:nvSpPr>
        <p:spPr>
          <a:xfrm>
            <a:off x="3291840" y="2761488"/>
            <a:ext cx="9829800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基于Django的短途旅游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路线规划系统设计与实现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V6_content_27"/>
          <p:cNvSpPr txBox="1"/>
          <p:nvPr/>
        </p:nvSpPr>
        <p:spPr>
          <a:xfrm>
            <a:off x="3328416" y="4562856"/>
            <a:ext cx="896112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长沙及周边 · 驾车 · 1—3日</a:t>
            </a:r>
            <a:endParaRPr sz="22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V6_content_28"/>
          <p:cNvSpPr txBox="1"/>
          <p:nvPr/>
        </p:nvSpPr>
        <p:spPr>
          <a:xfrm>
            <a:off x="3328416" y="5486400"/>
            <a:ext cx="941832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汇报人：张三    专业：软件工程</a:t>
            </a:r>
            <a:endParaRPr sz="20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3328416" y="6080760"/>
            <a:ext cx="941832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指导教师：[请填写]    答辩日期：[请填写]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选题背景与研究定位</a:t>
            </a:r>
            <a:endParaRPr sz="24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02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V6_content_15"/>
          <p:cNvSpPr txBox="1"/>
          <p:nvPr/>
        </p:nvSpPr>
        <p:spPr>
          <a:xfrm>
            <a:off x="786384" y="1938528"/>
            <a:ext cx="116128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想去哪些地方 ≠ 当天真的走得完</a:t>
            </a:r>
            <a:endParaRPr sz="28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V6_content_16"/>
          <p:cNvSpPr txBox="1"/>
          <p:nvPr/>
        </p:nvSpPr>
        <p:spPr>
          <a:xfrm>
            <a:off x="822960" y="2862072"/>
            <a:ext cx="50749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实际问题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822960" y="3383279"/>
            <a:ext cx="507492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距离近，但可能闭馆太早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替换景点后，时间需要重算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只看去程，容易遗漏返程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428232" y="2852928"/>
            <a:ext cx="0" cy="3136392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V6_content_19"/>
          <p:cNvSpPr txBox="1"/>
          <p:nvPr/>
        </p:nvSpPr>
        <p:spPr>
          <a:xfrm>
            <a:off x="6803136" y="2862072"/>
            <a:ext cx="557784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相关方法与本课题定位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V6_content_20"/>
          <p:cNvSpPr txBox="1"/>
          <p:nvPr/>
        </p:nvSpPr>
        <p:spPr>
          <a:xfrm>
            <a:off x="6803136" y="3383279"/>
            <a:ext cx="5577840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景点推荐：选择想去的地方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时间窗规划：排出能执行的行程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本课题：将规划、调整与检查串联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5724144"/>
            <a:ext cx="10104120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50976" y="5756148"/>
            <a:ext cx="98480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重点是可执行的行程，而不是堆叠更多平台功能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V6_footer_2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研究定位：小规模案例的工程实现与适用性验证，不宣称提出全新理论算法。</a:t>
            </a:r>
            <a:endParaRPr sz="12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研究范围与约束边界</a:t>
            </a:r>
            <a:endParaRPr sz="24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03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V6_content_15"/>
          <p:cNvSpPr txBox="1"/>
          <p:nvPr/>
        </p:nvSpPr>
        <p:spPr>
          <a:xfrm>
            <a:off x="822960" y="2130552"/>
            <a:ext cx="278892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长沙及周边</a:t>
            </a:r>
            <a:endParaRPr sz="2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V6_content_16"/>
          <p:cNvSpPr txBox="1"/>
          <p:nvPr/>
        </p:nvSpPr>
        <p:spPr>
          <a:xfrm>
            <a:off x="822960" y="2834640"/>
            <a:ext cx="2761488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限定案例区域</a:t>
            </a:r>
            <a:endParaRPr sz="18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V6_content_18"/>
          <p:cNvSpPr txBox="1"/>
          <p:nvPr/>
        </p:nvSpPr>
        <p:spPr>
          <a:xfrm>
            <a:off x="3785616" y="2130552"/>
            <a:ext cx="278892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20—30个</a:t>
            </a:r>
            <a:endParaRPr sz="2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V6_content_19"/>
          <p:cNvSpPr txBox="1"/>
          <p:nvPr/>
        </p:nvSpPr>
        <p:spPr>
          <a:xfrm>
            <a:off x="3785616" y="2834640"/>
            <a:ext cx="2761488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拟整理景点</a:t>
            </a:r>
            <a:endParaRPr sz="18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3785616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V6_content_21"/>
          <p:cNvSpPr txBox="1"/>
          <p:nvPr/>
        </p:nvSpPr>
        <p:spPr>
          <a:xfrm>
            <a:off x="6748272" y="2130552"/>
            <a:ext cx="278892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驾车</a:t>
            </a:r>
            <a:endParaRPr sz="2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V6_content_22"/>
          <p:cNvSpPr txBox="1"/>
          <p:nvPr/>
        </p:nvSpPr>
        <p:spPr>
          <a:xfrm>
            <a:off x="6748272" y="2834640"/>
            <a:ext cx="2761488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固定交通方式</a:t>
            </a:r>
            <a:endParaRPr sz="18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748272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V6_content_24"/>
          <p:cNvSpPr txBox="1"/>
          <p:nvPr/>
        </p:nvSpPr>
        <p:spPr>
          <a:xfrm>
            <a:off x="9710928" y="2130552"/>
            <a:ext cx="2788920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1—3日</a:t>
            </a:r>
            <a:endParaRPr sz="2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V6_content_25"/>
          <p:cNvSpPr txBox="1"/>
          <p:nvPr/>
        </p:nvSpPr>
        <p:spPr>
          <a:xfrm>
            <a:off x="9710928" y="2834640"/>
            <a:ext cx="2761488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分日安排行程</a:t>
            </a:r>
            <a:endParaRPr sz="18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710928" y="3383280"/>
            <a:ext cx="2532888" cy="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V6_content_27"/>
          <p:cNvSpPr txBox="1"/>
          <p:nvPr/>
        </p:nvSpPr>
        <p:spPr>
          <a:xfrm>
            <a:off x="822960" y="3822191"/>
            <a:ext cx="1828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必须满足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V6_content_28"/>
          <p:cNvSpPr txBox="1"/>
          <p:nvPr/>
        </p:nvSpPr>
        <p:spPr>
          <a:xfrm>
            <a:off x="2852928" y="3822191"/>
            <a:ext cx="9281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每日从同一预设点出发并返回；每日非空；跨日景点不重复。</a:t>
            </a:r>
            <a:endParaRPr sz="20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822960" y="4828032"/>
            <a:ext cx="1828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预算范围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2852928" y="4828032"/>
            <a:ext cx="928116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只计算门票，不包含油费、停车费、餐饮和住宿。</a:t>
            </a:r>
            <a:endParaRPr sz="20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V6_content_31"/>
          <p:cNvSpPr txBox="1"/>
          <p:nvPr/>
        </p:nvSpPr>
        <p:spPr>
          <a:xfrm>
            <a:off x="822960" y="5833872"/>
            <a:ext cx="18288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暂不扩展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V6_content_32"/>
          <p:cNvSpPr txBox="1"/>
          <p:nvPr/>
        </p:nvSpPr>
        <p:spPr>
          <a:xfrm>
            <a:off x="2852928" y="5833872"/>
            <a:ext cx="7863840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实时拥堵预测、住宿选址、多交通方式切换。</a:t>
            </a:r>
            <a:endParaRPr sz="20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V6_footer_3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20—30个为计划规模；景点清单与预设出发点坐标在数据准备阶段确定。</a:t>
            </a:r>
            <a:endParaRPr sz="12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系统功能与使用流程</a:t>
            </a:r>
            <a:endParaRPr sz="24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04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5528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14400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输入条件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923544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日期、时间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兴趣、门票预算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2935224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1256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3310128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生成行程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V6_content_21"/>
          <p:cNvSpPr txBox="1"/>
          <p:nvPr/>
        </p:nvSpPr>
        <p:spPr>
          <a:xfrm>
            <a:off x="3319272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筛选候选景点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构造分日路线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5330952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5705856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交互调整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V6_content_25"/>
          <p:cNvSpPr txBox="1"/>
          <p:nvPr/>
        </p:nvSpPr>
        <p:spPr>
          <a:xfrm>
            <a:off x="5715000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替换景点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调整同日顺序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7726679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82712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8101584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重新检查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8110728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时间、返程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预算、不重复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10122408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78440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10497312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保存展示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V6_content_33"/>
          <p:cNvSpPr txBox="1"/>
          <p:nvPr/>
        </p:nvSpPr>
        <p:spPr>
          <a:xfrm>
            <a:off x="10506456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分日时间表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地图访问顺序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" y="4937760"/>
            <a:ext cx="1993392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6_content_35"/>
          <p:cNvSpPr txBox="1"/>
          <p:nvPr/>
        </p:nvSpPr>
        <p:spPr>
          <a:xfrm>
            <a:off x="950976" y="4969764"/>
            <a:ext cx="17373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管理员支撑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V6_content_36"/>
          <p:cNvSpPr txBox="1"/>
          <p:nvPr/>
        </p:nvSpPr>
        <p:spPr>
          <a:xfrm>
            <a:off x="3099816" y="4974336"/>
            <a:ext cx="91440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</a:rPr>
              <a:t>账号权限  ·  景点与基础数据  ·  操作与异常记录  ·  规划统计</a:t>
            </a:r>
            <a:endParaRPr sz="20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7" name="V6_content_37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核心原则：有冲突先提示，重新校验通过后再保存。</a:t>
            </a:r>
            <a:endParaRPr sz="21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V6_footer_39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按操作流程概括，非删减功能；报告十模块完整结构见备查页。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22960" y="548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23F80"/>
                </a:solidFill>
                <a:latin typeface="微软雅黑" panose="020B0503020204020204" charset="-122"/>
              </a:rPr>
              <a:t>十个模块：用户与权限 · 景点数据 · 景点检索 · 路线规划 · 行程调整 · 地图展示 · 约束检查 · 后台维护 · 规划统计 · 路线规划验证</a:t>
            </a:r>
            <a:endParaRPr sz="1050" b="0">
              <a:solidFill>
                <a:srgbClr val="123F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系统功能模块：十个模块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05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6" name="V6_content_16"/>
          <p:cNvSpPr txBox="1"/>
          <p:nvPr/>
        </p:nvSpPr>
        <p:spPr>
          <a:xfrm>
            <a:off x="9738360" y="2240280"/>
            <a:ext cx="265176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核心计算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9738360" y="2770632"/>
            <a:ext cx="2651760" cy="8778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路线规划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约束检查与解释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V6_content_18"/>
          <p:cNvSpPr txBox="1"/>
          <p:nvPr/>
        </p:nvSpPr>
        <p:spPr>
          <a:xfrm>
            <a:off x="9738360" y="4114800"/>
            <a:ext cx="274320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两种记录入口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9" name="V6_content_19"/>
          <p:cNvSpPr txBox="1"/>
          <p:nvPr/>
        </p:nvSpPr>
        <p:spPr>
          <a:xfrm>
            <a:off x="9738360" y="4645152"/>
            <a:ext cx="2743200" cy="932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</a:rPr>
              <a:t>规划统计：运行记录</a:t>
            </a:r>
            <a:endParaRPr sz="17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l"/>
            <a:r>
              <a:rPr sz="1700" b="0">
                <a:solidFill>
                  <a:srgbClr val="202B3A"/>
                </a:solidFill>
                <a:latin typeface="微软雅黑" panose="020B0503020204020204" charset="-122"/>
              </a:rPr>
              <a:t>路线规划验证：固定场景</a:t>
            </a:r>
            <a:endParaRPr sz="17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V6_footer_21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重点页。模块图沿用最终版报告图12；路线规划与约束检查是核心，其余模块提供数据、展示、统计与验证支撑。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335" y="1947672"/>
            <a:ext cx="6665185" cy="38440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三类角色与总体用例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06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6" name="V6_content_16"/>
          <p:cNvSpPr txBox="1"/>
          <p:nvPr/>
        </p:nvSpPr>
        <p:spPr>
          <a:xfrm>
            <a:off x="8238744" y="2295144"/>
            <a:ext cx="32918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普通用户</a:t>
            </a:r>
            <a:endParaRPr sz="23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8238744" y="2862072"/>
            <a:ext cx="3977639" cy="9875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查询、规划、调整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查看结果与自己的行程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V6_content_18"/>
          <p:cNvSpPr txBox="1"/>
          <p:nvPr/>
        </p:nvSpPr>
        <p:spPr>
          <a:xfrm>
            <a:off x="8238744" y="4306824"/>
            <a:ext cx="3291840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管理员</a:t>
            </a:r>
            <a:endParaRPr sz="23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V6_content_19"/>
          <p:cNvSpPr txBox="1"/>
          <p:nvPr/>
        </p:nvSpPr>
        <p:spPr>
          <a:xfrm>
            <a:off x="8238744" y="4855464"/>
            <a:ext cx="3840480" cy="9418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账号与权限维护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景点、后台数据与统计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V6_footer_21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重点页。总体用例图沿用最终版报告图11；游客是未登录状态，注册登录后成为普通用户，腾讯地图是外部服务。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75320" y="5804520"/>
            <a:ext cx="265176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02B3A"/>
                </a:solidFill>
                <a:latin typeface="微软雅黑" panose="020B0503020204020204" charset="-122"/>
              </a:rPr>
              <a:t>游客</a:t>
            </a:r>
            <a:endParaRPr sz="11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r>
              <a:rPr sz="1100" b="0">
                <a:solidFill>
                  <a:srgbClr val="202B3A"/>
                </a:solidFill>
                <a:latin typeface="微软雅黑" panose="020B0503020204020204" charset="-122"/>
              </a:rPr>
              <a:t>未登录浏览景点、注册账号</a:t>
            </a:r>
            <a:endParaRPr sz="11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pic>
        <p:nvPicPr>
          <p:cNvPr id="23" name="Picture 22" descr="fig11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460" y="1856231"/>
            <a:ext cx="4423895" cy="58130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系统架构：前端、后端与数据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07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011680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87552" y="2176272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前端（浏览器）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3227832" y="2185416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Django模板 + Bootstrap + JavaScript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2944368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987552" y="3108960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后端（Django）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0" name="V6_content_20"/>
          <p:cNvSpPr txBox="1"/>
          <p:nvPr/>
        </p:nvSpPr>
        <p:spPr>
          <a:xfrm>
            <a:off x="3227832" y="3118104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收请求、查登录与权限、调用业务服务、返回页面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3877056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87552" y="4041648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后端业务服务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3" name="V6_content_23"/>
          <p:cNvSpPr txBox="1"/>
          <p:nvPr/>
        </p:nvSpPr>
        <p:spPr>
          <a:xfrm>
            <a:off x="3227832" y="4050792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景点检索、路线生成、约束复核、统计，各自独立可测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" y="4809744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87552" y="4974336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SQLite数据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V6_content_26"/>
          <p:cNvSpPr txBox="1"/>
          <p:nvPr/>
        </p:nvSpPr>
        <p:spPr>
          <a:xfrm>
            <a:off x="3227832" y="4983480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景点、预设点、交通矩阵、行程、规划记录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933688" y="1993392"/>
            <a:ext cx="0" cy="3520440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V6_content_28"/>
          <p:cNvSpPr txBox="1"/>
          <p:nvPr/>
        </p:nvSpPr>
        <p:spPr>
          <a:xfrm>
            <a:off x="9253728" y="2221992"/>
            <a:ext cx="2980944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腾讯地图</a:t>
            </a:r>
            <a:endParaRPr sz="23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9253728" y="2880360"/>
            <a:ext cx="2990088" cy="1819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显示出发点、景点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与访问顺序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不替代后端约束计算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822960" y="5989320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文字结果先独立输出，地图加载失败时仍保留已经生成的行程。</a:t>
            </a:r>
            <a:endParaRPr sz="19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架构为设计方案；复用基础组件，把主要开发时间放在路线计算、检查和测试。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系统接口：页面、内部与外部接口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08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011680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87552" y="2176272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页面接口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3227832" y="2185416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游客查景点 · 用户生成行程 · 我的行程（查看/替换/调序/删除）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2944368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987552" y="3108960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内部接口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0" name="V6_content_20"/>
          <p:cNvSpPr txBox="1"/>
          <p:nvPr/>
        </p:nvSpPr>
        <p:spPr>
          <a:xfrm>
            <a:off x="3227832" y="3118104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规划服务：输入出发点、日期、兴趣与预算，输出分日行程或冲突清单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3877056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87552" y="4041648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外部接口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3" name="V6_content_23"/>
          <p:cNvSpPr txBox="1"/>
          <p:nvPr/>
        </p:nvSpPr>
        <p:spPr>
          <a:xfrm>
            <a:off x="3227832" y="4050792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腾讯地图 JS：只显示点位与访问顺序；地图失败保留文字行程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" y="4809744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87552" y="4974336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后台接口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6" name="V6_content_26"/>
          <p:cNvSpPr txBox="1"/>
          <p:nvPr/>
        </p:nvSpPr>
        <p:spPr>
          <a:xfrm>
            <a:off x="3227832" y="4983480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Django Admin 维护与规划统计：仅管理员，校验后入库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822960" y="5989320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F80"/>
                </a:solidFill>
                <a:latin typeface="微软雅黑" panose="020B0503020204020204" charset="-122"/>
              </a:rPr>
              <a:t>本系统为 Django 模板页面，不是前后端分离；接口按三类划分。</a:t>
            </a:r>
            <a:endParaRPr sz="1300" b="1">
              <a:solidFill>
                <a:srgbClr val="123F80"/>
              </a:solidFill>
              <a:latin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接口为拟设计，最终以 urls 与视图实现为准；外部接口受平台授权与配额约束。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类与数据：每个类负责什么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09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011680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87552" y="2176272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景点与基础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3227832" y="2185416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Spot 景点 · Tag 标签 · Region 区域 · StartPoint 出发点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2944368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987552" y="3108960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行程与记录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0" name="V6_content_20"/>
          <p:cNvSpPr txBox="1"/>
          <p:nvPr/>
        </p:nvSpPr>
        <p:spPr>
          <a:xfrm>
            <a:off x="3227832" y="3118104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B3A"/>
                </a:solidFill>
                <a:latin typeface="微软雅黑" panose="020B0503020204020204" charset="-122"/>
              </a:rPr>
              <a:t>Itinerary 行程（属于用户）· ItineraryItem 明细 · PlanningRecord 记录 · 操作日志</a:t>
            </a:r>
            <a:endParaRPr sz="11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3877056"/>
            <a:ext cx="7735824" cy="70408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87552" y="4041648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规划与校验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3" name="V6_content_23"/>
          <p:cNvSpPr txBox="1"/>
          <p:nvPr/>
        </p:nvSpPr>
        <p:spPr>
          <a:xfrm>
            <a:off x="3227832" y="4050792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RoutePlanner 逐日构造 · ConstraintChecker 复核时间、返程、预算与重复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2960" y="4809744"/>
            <a:ext cx="7735824" cy="704088"/>
          </a:xfrm>
          <a:prstGeom prst="rect">
            <a:avLst/>
          </a:prstGeom>
          <a:solidFill>
            <a:srgbClr val="FFFFFF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87552" y="4974336"/>
            <a:ext cx="2084831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页面与统计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6" name="V6_content_26"/>
          <p:cNvSpPr txBox="1"/>
          <p:nvPr/>
        </p:nvSpPr>
        <p:spPr>
          <a:xfrm>
            <a:off x="3227832" y="4983480"/>
            <a:ext cx="5102352" cy="40233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View 收请求查权限 · StatisticsService 日常与固定场景分开汇总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822960" y="5989320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23F80"/>
                </a:solidFill>
                <a:latin typeface="微软雅黑" panose="020B0503020204020204" charset="-122"/>
              </a:rPr>
              <a:t>关系：一个用户有多条行程，一条行程有多天明细；交通路段分方向、带版本。</a:t>
            </a:r>
            <a:endParaRPr sz="1300" b="1">
              <a:solidFill>
                <a:srgbClr val="123F80"/>
              </a:solidFill>
              <a:latin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类为拟设计，字段以最终 models 实现为准；TravelLeg 是交通矩阵中一行有方向的数据。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增删改查与身份认证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10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95528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14400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景点 Spot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923544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游客与用户只查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管理员增改、失效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2935224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1256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3310128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行程 Itinerary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1" name="V6_content_21"/>
          <p:cNvSpPr txBox="1"/>
          <p:nvPr/>
        </p:nvSpPr>
        <p:spPr>
          <a:xfrm>
            <a:off x="3319272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用户增查改删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仅限本人行程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5330952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5705856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基础数据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5" name="V6_content_25"/>
          <p:cNvSpPr txBox="1"/>
          <p:nvPr/>
        </p:nvSpPr>
        <p:spPr>
          <a:xfrm>
            <a:off x="5715000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标签、出发点、路段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管理员维护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7726679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82712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8101584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账号 User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8110728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注册、改本人资料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管理员禁用异常账号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10122408" y="3090672"/>
            <a:ext cx="182880" cy="365760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78440" y="2331720"/>
            <a:ext cx="2057400" cy="1920240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10497312" y="2587752"/>
            <a:ext cx="1819656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规划记录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33" name="V6_content_33"/>
          <p:cNvSpPr txBox="1"/>
          <p:nvPr/>
        </p:nvSpPr>
        <p:spPr>
          <a:xfrm>
            <a:off x="10506456" y="3200400"/>
            <a:ext cx="1801368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系统自动生成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管理员筛选统计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2960" y="4937760"/>
            <a:ext cx="1993392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6_content_35"/>
          <p:cNvSpPr txBox="1"/>
          <p:nvPr/>
        </p:nvSpPr>
        <p:spPr>
          <a:xfrm>
            <a:off x="950976" y="4969764"/>
            <a:ext cx="17373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身份认证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V6_content_36"/>
          <p:cNvSpPr txBox="1"/>
          <p:nvPr/>
        </p:nvSpPr>
        <p:spPr>
          <a:xfrm>
            <a:off x="3099816" y="4974336"/>
            <a:ext cx="91440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游客注册 · Auth哈希存密码 · 登录建会话 · 行程按归属过滤 · 管理员进后台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7" name="V6_content_37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F80"/>
                </a:solidFill>
                <a:latin typeface="微软雅黑" panose="020B0503020204020204" charset="-122"/>
              </a:rPr>
              <a:t>核心原则：改编号访问他人行程会被拒绝；管理员维护与规划异常留记录可回查。</a:t>
            </a:r>
            <a:endParaRPr sz="1200" b="1">
              <a:solidFill>
                <a:srgbClr val="123F80"/>
              </a:solidFill>
              <a:latin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V6_footer_39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删除口径：景点被历史行程引用时只失效不物理删除，保证可追溯。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数据来源与交通矩阵</a:t>
            </a:r>
            <a:endParaRPr sz="24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11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148840"/>
            <a:ext cx="1874519" cy="521207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221992"/>
            <a:ext cx="1655063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697479" y="2148840"/>
            <a:ext cx="5852160" cy="521207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6_content_18"/>
          <p:cNvSpPr txBox="1"/>
          <p:nvPr/>
        </p:nvSpPr>
        <p:spPr>
          <a:xfrm>
            <a:off x="2807208" y="2221992"/>
            <a:ext cx="5632704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计划来源 / 内容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549640" y="2148840"/>
            <a:ext cx="3703320" cy="521207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8659367" y="2221992"/>
            <a:ext cx="3483863" cy="4023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控制要求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2670048"/>
            <a:ext cx="1874519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32688" y="2779776"/>
            <a:ext cx="1655063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景点资料</a:t>
            </a:r>
            <a:endParaRPr sz="1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97479" y="2670048"/>
            <a:ext cx="585216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2807208" y="2779776"/>
            <a:ext cx="5632704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景区或文旅部门公开资料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49640" y="2670048"/>
            <a:ext cx="370332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8659367" y="2779776"/>
            <a:ext cx="3483863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记录来源与采集日期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" y="3447288"/>
            <a:ext cx="1874519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32688" y="3557016"/>
            <a:ext cx="1655063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交通矩阵</a:t>
            </a:r>
            <a:endParaRPr sz="1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697479" y="3447288"/>
            <a:ext cx="5852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6_content_30"/>
          <p:cNvSpPr txBox="1"/>
          <p:nvPr/>
        </p:nvSpPr>
        <p:spPr>
          <a:xfrm>
            <a:off x="2807208" y="3557016"/>
            <a:ext cx="5632704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有方向的驾车距离与耗时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549640" y="3447288"/>
            <a:ext cx="37033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8659367" y="3557016"/>
            <a:ext cx="3483863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包含出发点去程、返程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2960" y="4224528"/>
            <a:ext cx="1874519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6_content_34"/>
          <p:cNvSpPr txBox="1"/>
          <p:nvPr/>
        </p:nvSpPr>
        <p:spPr>
          <a:xfrm>
            <a:off x="932688" y="4334256"/>
            <a:ext cx="1655063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微软雅黑" panose="020B0503020204020204" charset="-122"/>
              </a:rPr>
              <a:t>验证数据版本</a:t>
            </a:r>
            <a:endParaRPr sz="18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697479" y="4224528"/>
            <a:ext cx="585216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6_content_36"/>
          <p:cNvSpPr txBox="1"/>
          <p:nvPr/>
        </p:nvSpPr>
        <p:spPr>
          <a:xfrm>
            <a:off x="2807208" y="4334256"/>
            <a:ext cx="5632704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</a:rPr>
              <a:t>同一批验证使用同一矩阵</a:t>
            </a:r>
            <a:endParaRPr sz="18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549640" y="4224528"/>
            <a:ext cx="3703320" cy="777240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6_content_38"/>
          <p:cNvSpPr txBox="1"/>
          <p:nvPr/>
        </p:nvSpPr>
        <p:spPr>
          <a:xfrm>
            <a:off x="8659367" y="4334256"/>
            <a:ext cx="3483863" cy="594359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固定版本，不随意混源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V6_content_39"/>
          <p:cNvSpPr txBox="1"/>
          <p:nvPr/>
        </p:nvSpPr>
        <p:spPr>
          <a:xfrm>
            <a:off x="822960" y="5239512"/>
            <a:ext cx="10881360" cy="4480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取得平台数据前：核对授权、配额和存储规则。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V6_content_40"/>
          <p:cNvSpPr txBox="1"/>
          <p:nvPr/>
        </p:nvSpPr>
        <p:spPr>
          <a:xfrm>
            <a:off x="822960" y="5916168"/>
            <a:ext cx="101498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若不可得：统一使用明确标注的模拟矩阵；不解释为真实道路可达性验证。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V6_footer_4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矩阵是采集时段下的估计值，不含实时拥堵预测；名单、坐标和使用权限仍需落实。</a:t>
            </a:r>
            <a:endParaRPr sz="12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路线生成：系统怎样调用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12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1 提交条件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932688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前端传出发点、日期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兴趣与门票预算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3575303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3950208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2 查询候选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1" name="V6_content_21"/>
          <p:cNvSpPr txBox="1"/>
          <p:nvPr/>
        </p:nvSpPr>
        <p:spPr>
          <a:xfrm>
            <a:off x="3950208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后端读有效景点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与交通路段数据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6592824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6967728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3 生成顺序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5" name="V6_content_25"/>
          <p:cNvSpPr txBox="1"/>
          <p:nvPr/>
        </p:nvSpPr>
        <p:spPr>
          <a:xfrm>
            <a:off x="6967728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规划服务返回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分日访问顺序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9610344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19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985247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4 检查保存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9985247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校验通过后保存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200" b="0">
                <a:solidFill>
                  <a:srgbClr val="202B3A"/>
                </a:solidFill>
                <a:latin typeface="微软雅黑" panose="020B0503020204020204" charset="-122"/>
              </a:rPr>
              <a:t>有冲突返回清单</a:t>
            </a:r>
            <a:endParaRPr sz="12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822960" y="4370832"/>
            <a:ext cx="112471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</a:rPr>
              <a:t>本页只讲调用过程：前端提交条件，后端生成分日顺序，校验服务统一复核，通过才保存。</a:t>
            </a:r>
            <a:endParaRPr sz="20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1" name="V6_content_31"/>
          <p:cNvSpPr txBox="1"/>
          <p:nvPr/>
        </p:nvSpPr>
        <p:spPr>
          <a:xfrm>
            <a:off x="822960" y="5065776"/>
            <a:ext cx="112471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</a:rPr>
              <a:t>接口约定：输入是规划条件，输出是分日行程；未生成完整行程时输出冲突清单和修改提示。</a:t>
            </a:r>
            <a:endParaRPr sz="19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2960" y="5934456"/>
            <a:ext cx="10058400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6_content_33"/>
          <p:cNvSpPr txBox="1"/>
          <p:nvPr/>
        </p:nvSpPr>
        <p:spPr>
          <a:xfrm>
            <a:off x="950976" y="5966460"/>
            <a:ext cx="980236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选择规则不展开，放在备查页，被问到时再翻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V6_footer_35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主讲不展开算法细节；路线选择规则见备查页。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如何验证：十五组场景与功能测试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13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020824"/>
            <a:ext cx="11247120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50976" y="2052828"/>
            <a:ext cx="1099108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</a:rPr>
              <a:t>15组固定场景：一日、二日、三日各5组</a:t>
            </a:r>
            <a:endParaRPr sz="2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822960" y="2724912"/>
            <a:ext cx="1115568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274"/>
                </a:solidFill>
                <a:latin typeface="微软雅黑" panose="020B0503020204020204" charset="-122"/>
              </a:rPr>
              <a:t>只运行报告中的一种贪心方法，逐组检查是否满足全部约束。</a:t>
            </a:r>
            <a:endParaRPr sz="18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2960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914400" y="3639312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微软雅黑" panose="020B0503020204020204" charset="-122"/>
              </a:rPr>
              <a:t>固定场景验证</a:t>
            </a:r>
            <a:endParaRPr sz="19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40480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6_content_21"/>
          <p:cNvSpPr txBox="1"/>
          <p:nvPr/>
        </p:nvSpPr>
        <p:spPr>
          <a:xfrm>
            <a:off x="3931920" y="3639312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微软雅黑" panose="020B0503020204020204" charset="-122"/>
              </a:rPr>
              <a:t>功能测试</a:t>
            </a:r>
            <a:endParaRPr sz="19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0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6_content_23"/>
          <p:cNvSpPr txBox="1"/>
          <p:nvPr/>
        </p:nvSpPr>
        <p:spPr>
          <a:xfrm>
            <a:off x="6949440" y="3639312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微软雅黑" panose="020B0503020204020204" charset="-122"/>
              </a:rPr>
              <a:t>异常测试</a:t>
            </a:r>
            <a:endParaRPr sz="19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75519" y="3419856"/>
            <a:ext cx="2651760" cy="85039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966959" y="3639312"/>
            <a:ext cx="24688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微软雅黑" panose="020B0503020204020204" charset="-122"/>
              </a:rPr>
              <a:t>记录失败原因</a:t>
            </a:r>
            <a:endParaRPr sz="19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6" name="V6_content_26"/>
          <p:cNvSpPr txBox="1"/>
          <p:nvPr/>
        </p:nvSpPr>
        <p:spPr>
          <a:xfrm>
            <a:off x="822960" y="4663440"/>
            <a:ext cx="1828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记录什么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7" name="V6_content_27"/>
          <p:cNvSpPr txBox="1"/>
          <p:nvPr/>
        </p:nvSpPr>
        <p:spPr>
          <a:xfrm>
            <a:off x="2834640" y="4663440"/>
            <a:ext cx="93268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</a:rPr>
              <a:t>成功或失败、景点数量、交通与等待耗时、门票费用</a:t>
            </a:r>
            <a:endParaRPr sz="19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8" name="V6_content_28"/>
          <p:cNvSpPr txBox="1"/>
          <p:nvPr/>
        </p:nvSpPr>
        <p:spPr>
          <a:xfrm>
            <a:off x="822960" y="5394960"/>
            <a:ext cx="1828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</a:rPr>
              <a:t>单独测试</a:t>
            </a:r>
            <a:endParaRPr sz="20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2834640" y="5394960"/>
            <a:ext cx="9052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02B3A"/>
                </a:solidFill>
                <a:latin typeface="微软雅黑" panose="020B0503020204020204" charset="-122"/>
              </a:rPr>
              <a:t>注册登录、检索、替换保存、页面与接口联调；错误日期、负预算、地图失败、越权访问</a:t>
            </a:r>
            <a:endParaRPr sz="11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822960" y="6172200"/>
            <a:ext cx="101041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3F80"/>
                </a:solidFill>
                <a:latin typeface="微软雅黑" panose="020B0503020204020204" charset="-122"/>
              </a:rPr>
              <a:t>不与其他方法作优劣比较；结论只覆盖本案例数据。</a:t>
            </a:r>
            <a:endParaRPr sz="1800" b="1">
              <a:solidFill>
                <a:srgbClr val="123F80"/>
              </a:solidFill>
              <a:latin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以上为计划，尚无实测结果；输入错误与系统异常不计入15组场景。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进度安排与阶段交付</a:t>
            </a:r>
            <a:endParaRPr sz="24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14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1993392"/>
            <a:ext cx="3749039" cy="502920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066544"/>
            <a:ext cx="3529583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计划时段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0" y="1993392"/>
            <a:ext cx="4663440" cy="502920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6_content_18"/>
          <p:cNvSpPr txBox="1"/>
          <p:nvPr/>
        </p:nvSpPr>
        <p:spPr>
          <a:xfrm>
            <a:off x="4681728" y="2066544"/>
            <a:ext cx="4443983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阶段重点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235440" y="1993392"/>
            <a:ext cx="3200400" cy="502920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9345167" y="2066544"/>
            <a:ext cx="2980944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交付物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2496312"/>
            <a:ext cx="3749039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932688" y="2606040"/>
            <a:ext cx="35295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2026.10.08—10.21</a:t>
            </a:r>
            <a:endParaRPr sz="16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0" y="2496312"/>
            <a:ext cx="466344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4681728" y="2606040"/>
            <a:ext cx="44439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选题、开题与方案修订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235440" y="2496312"/>
            <a:ext cx="320040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9345167" y="2606040"/>
            <a:ext cx="2980944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开题报告 / 答辩材料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" y="3145536"/>
            <a:ext cx="374903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32688" y="3255264"/>
            <a:ext cx="35295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2026.10.22—12.22</a:t>
            </a:r>
            <a:endParaRPr sz="16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572000" y="3145536"/>
            <a:ext cx="46634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6_content_30"/>
          <p:cNvSpPr txBox="1"/>
          <p:nvPr/>
        </p:nvSpPr>
        <p:spPr>
          <a:xfrm>
            <a:off x="4681728" y="3255264"/>
            <a:ext cx="44439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案例数据、设计、核心算法初步实现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235440" y="3145536"/>
            <a:ext cx="320040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9345167" y="3255264"/>
            <a:ext cx="2980944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初稿 / 阶段材料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22960" y="3794760"/>
            <a:ext cx="3749039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6_content_34"/>
          <p:cNvSpPr txBox="1"/>
          <p:nvPr/>
        </p:nvSpPr>
        <p:spPr>
          <a:xfrm>
            <a:off x="932688" y="3904488"/>
            <a:ext cx="35295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2026.12.23—2027.01.15</a:t>
            </a:r>
            <a:endParaRPr sz="16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0" y="3794760"/>
            <a:ext cx="466344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6_content_36"/>
          <p:cNvSpPr txBox="1"/>
          <p:nvPr/>
        </p:nvSpPr>
        <p:spPr>
          <a:xfrm>
            <a:off x="4681728" y="3904488"/>
            <a:ext cx="44439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核心功能、统计初步实现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235440" y="3794760"/>
            <a:ext cx="320040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6_content_38"/>
          <p:cNvSpPr txBox="1"/>
          <p:nvPr/>
        </p:nvSpPr>
        <p:spPr>
          <a:xfrm>
            <a:off x="9345167" y="3904488"/>
            <a:ext cx="2980944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二稿 / 阶段结果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22960" y="4443984"/>
            <a:ext cx="3749039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6_content_40"/>
          <p:cNvSpPr txBox="1"/>
          <p:nvPr/>
        </p:nvSpPr>
        <p:spPr>
          <a:xfrm>
            <a:off x="932688" y="4553712"/>
            <a:ext cx="35295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2027.01.16—02.28</a:t>
            </a:r>
            <a:endParaRPr sz="16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572000" y="4443984"/>
            <a:ext cx="466344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6_content_42"/>
          <p:cNvSpPr txBox="1"/>
          <p:nvPr/>
        </p:nvSpPr>
        <p:spPr>
          <a:xfrm>
            <a:off x="4681728" y="4553712"/>
            <a:ext cx="44439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</a:rPr>
              <a:t>联调、测试与场景验证</a:t>
            </a:r>
            <a:endParaRPr sz="16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235440" y="4443984"/>
            <a:ext cx="3200400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6_content_44"/>
          <p:cNvSpPr txBox="1"/>
          <p:nvPr/>
        </p:nvSpPr>
        <p:spPr>
          <a:xfrm>
            <a:off x="9345167" y="4553712"/>
            <a:ext cx="2980944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定稿 / 测试材料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22960" y="5093208"/>
            <a:ext cx="3749039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6_content_46"/>
          <p:cNvSpPr txBox="1"/>
          <p:nvPr/>
        </p:nvSpPr>
        <p:spPr>
          <a:xfrm>
            <a:off x="932688" y="5202936"/>
            <a:ext cx="35295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2027.03.01—05.30</a:t>
            </a:r>
            <a:endParaRPr sz="16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572000" y="5093208"/>
            <a:ext cx="466344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6_content_48"/>
          <p:cNvSpPr txBox="1"/>
          <p:nvPr/>
        </p:nvSpPr>
        <p:spPr>
          <a:xfrm>
            <a:off x="4681728" y="5202936"/>
            <a:ext cx="4443983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评阅、答辩、修改与归档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235440" y="5093208"/>
            <a:ext cx="3200400" cy="649224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6_content_50"/>
          <p:cNvSpPr txBox="1"/>
          <p:nvPr/>
        </p:nvSpPr>
        <p:spPr>
          <a:xfrm>
            <a:off x="9345167" y="5202936"/>
            <a:ext cx="2980944" cy="4663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论文及完整项目材料</a:t>
            </a:r>
            <a:endParaRPr sz="16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V6_content_51"/>
          <p:cNvSpPr txBox="1"/>
          <p:nvPr/>
        </p:nvSpPr>
        <p:spPr>
          <a:xfrm>
            <a:off x="822960" y="6062472"/>
            <a:ext cx="1014984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实施顺序：单日 + 文字结果 → 多日 + 调整 → 地图 + 统计。</a:t>
            </a:r>
            <a:endParaRPr sz="19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V6_footer_53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时段合并展示，依据最终版报告计划；实际开发进度应据实更新。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项目特色、风险与预期成果</a:t>
            </a:r>
            <a:endParaRPr sz="24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15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V6_content_15"/>
          <p:cNvSpPr txBox="1"/>
          <p:nvPr/>
        </p:nvSpPr>
        <p:spPr>
          <a:xfrm>
            <a:off x="822960" y="2148840"/>
            <a:ext cx="537667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工程特色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V6_content_16"/>
          <p:cNvSpPr txBox="1"/>
          <p:nvPr/>
        </p:nvSpPr>
        <p:spPr>
          <a:xfrm>
            <a:off x="822960" y="2670048"/>
            <a:ext cx="5376672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调整后给出具体冲突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统一指标，区分统计来源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结果可回查数据版本与明细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473952" y="2130552"/>
            <a:ext cx="0" cy="2962656"/>
          </a:xfrm>
          <a:prstGeom prst="line">
            <a:avLst/>
          </a:prstGeom>
          <a:ln w="1270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V6_content_18"/>
          <p:cNvSpPr txBox="1"/>
          <p:nvPr/>
        </p:nvSpPr>
        <p:spPr>
          <a:xfrm>
            <a:off x="6812280" y="2148840"/>
            <a:ext cx="5376672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风险与应对</a:t>
            </a:r>
            <a:endParaRPr sz="20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V6_content_19"/>
          <p:cNvSpPr txBox="1"/>
          <p:nvPr/>
        </p:nvSpPr>
        <p:spPr>
          <a:xfrm>
            <a:off x="6812280" y="2670048"/>
            <a:ext cx="5376672" cy="10515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数据受限 → 合规来源 / 模拟标注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时间误差 → 说明估计边界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范围过大 → 先最小闭环再扩展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2960" y="5120640"/>
            <a:ext cx="1947672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6_content_21"/>
          <p:cNvSpPr txBox="1"/>
          <p:nvPr/>
        </p:nvSpPr>
        <p:spPr>
          <a:xfrm>
            <a:off x="950976" y="5152644"/>
            <a:ext cx="169163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预期交付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V6_content_22"/>
          <p:cNvSpPr txBox="1"/>
          <p:nvPr/>
        </p:nvSpPr>
        <p:spPr>
          <a:xfrm>
            <a:off x="822960" y="5797296"/>
            <a:ext cx="10149840" cy="6766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可运行原型、源代码、案例数据说明、测试材料、毕业论文</a:t>
            </a:r>
            <a:endParaRPr sz="20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V6_footer_2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特色在工程落实与验证，不把常规算法组合描述为理论创新，也不预设实验提升幅度。</a:t>
            </a:r>
            <a:endParaRPr sz="12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8605" y="252095"/>
            <a:ext cx="1868170" cy="327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38119" y="2652906"/>
            <a:ext cx="67998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600" dirty="0">
                <a:solidFill>
                  <a:srgbClr val="003E9B"/>
                </a:solidFill>
                <a:latin typeface="思源黑体 CN Medium" charset="-122"/>
                <a:ea typeface="思源黑体 CN Medium" charset="-122"/>
              </a:rPr>
              <a:t>THANKS !</a:t>
            </a:r>
            <a:endParaRPr lang="en-US" altLang="zh-CN" sz="9600" dirty="0">
              <a:solidFill>
                <a:srgbClr val="003E9B"/>
              </a:solidFill>
              <a:latin typeface="思源黑体 CN Medium" charset="-122"/>
              <a:ea typeface="思源黑体 CN Medium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638165" y="381635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广科辅助"/>
          <p:cNvPicPr>
            <a:picLocks noChangeAspect="1"/>
          </p:cNvPicPr>
          <p:nvPr/>
        </p:nvPicPr>
        <p:blipFill>
          <a:blip r:embed="rId2">
            <a:lum bright="-12000"/>
          </a:blip>
          <a:stretch>
            <a:fillRect/>
          </a:stretch>
        </p:blipFill>
        <p:spPr>
          <a:xfrm>
            <a:off x="0" y="3747052"/>
            <a:ext cx="2992863" cy="417298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967330" y="403790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3E9B"/>
                </a:solidFill>
                <a:latin typeface="思源黑体 CN Bold" pitchFamily="34" charset="-122"/>
                <a:ea typeface="思源黑体 CN Bold" pitchFamily="34" charset="-122"/>
              </a:rPr>
              <a:t>谢谢大家的聆听</a:t>
            </a:r>
            <a:endParaRPr lang="zh-CN" altLang="en-US" dirty="0">
              <a:solidFill>
                <a:srgbClr val="003E9B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备查：时间约束怎样检查：一个虚拟算例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17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V6_content_15"/>
          <p:cNvSpPr txBox="1"/>
          <p:nvPr/>
        </p:nvSpPr>
        <p:spPr>
          <a:xfrm>
            <a:off x="822960" y="1993392"/>
            <a:ext cx="1156716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条件：09:00—13:00可用；A在10:00开放；B在12:30闭馆</a:t>
            </a:r>
            <a:endParaRPr sz="20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22960" y="2862072"/>
            <a:ext cx="1533698" cy="1005840"/>
          </a:xfrm>
          <a:prstGeom prst="rect">
            <a:avLst/>
          </a:prstGeom>
          <a:solidFill>
            <a:srgbClr val="0054A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6_content_17"/>
          <p:cNvSpPr txBox="1"/>
          <p:nvPr/>
        </p:nvSpPr>
        <p:spPr>
          <a:xfrm>
            <a:off x="859536" y="3026664"/>
            <a:ext cx="1460546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去程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30分钟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V6_content_18"/>
          <p:cNvSpPr txBox="1"/>
          <p:nvPr/>
        </p:nvSpPr>
        <p:spPr>
          <a:xfrm>
            <a:off x="676656" y="4041648"/>
            <a:ext cx="905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09:00</a:t>
            </a:r>
            <a:endParaRPr sz="15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56658" y="2862072"/>
            <a:ext cx="1533698" cy="1005840"/>
          </a:xfrm>
          <a:prstGeom prst="rect">
            <a:avLst/>
          </a:prstGeom>
          <a:solidFill>
            <a:srgbClr val="849CB5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2393234" y="3026664"/>
            <a:ext cx="1460546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等待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30分钟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V6_content_21"/>
          <p:cNvSpPr txBox="1"/>
          <p:nvPr/>
        </p:nvSpPr>
        <p:spPr>
          <a:xfrm>
            <a:off x="2210354" y="4041648"/>
            <a:ext cx="905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09:30</a:t>
            </a:r>
            <a:endParaRPr sz="15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90356" y="2862072"/>
            <a:ext cx="3067396" cy="1005840"/>
          </a:xfrm>
          <a:prstGeom prst="rect">
            <a:avLst/>
          </a:prstGeom>
          <a:solidFill>
            <a:srgbClr val="E8F0F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6_content_23"/>
          <p:cNvSpPr txBox="1"/>
          <p:nvPr/>
        </p:nvSpPr>
        <p:spPr>
          <a:xfrm>
            <a:off x="3926932" y="3026664"/>
            <a:ext cx="2994244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游玩A</a:t>
            </a:r>
            <a:endParaRPr sz="16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60分钟</a:t>
            </a:r>
            <a:endParaRPr sz="16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V6_content_24"/>
          <p:cNvSpPr txBox="1"/>
          <p:nvPr/>
        </p:nvSpPr>
        <p:spPr>
          <a:xfrm>
            <a:off x="3744052" y="4041648"/>
            <a:ext cx="905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10:00</a:t>
            </a:r>
            <a:endParaRPr sz="15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57752" y="2862072"/>
            <a:ext cx="1022465" cy="1005840"/>
          </a:xfrm>
          <a:prstGeom prst="rect">
            <a:avLst/>
          </a:prstGeom>
          <a:solidFill>
            <a:srgbClr val="0054A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6994328" y="3026664"/>
            <a:ext cx="949313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景间交通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20分钟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V6_content_27"/>
          <p:cNvSpPr txBox="1"/>
          <p:nvPr/>
        </p:nvSpPr>
        <p:spPr>
          <a:xfrm>
            <a:off x="6811448" y="4041648"/>
            <a:ext cx="905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11:00</a:t>
            </a:r>
            <a:endParaRPr sz="15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980218" y="2862072"/>
            <a:ext cx="2044930" cy="1005840"/>
          </a:xfrm>
          <a:prstGeom prst="rect">
            <a:avLst/>
          </a:prstGeom>
          <a:solidFill>
            <a:srgbClr val="E8F0F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6_content_29"/>
          <p:cNvSpPr txBox="1"/>
          <p:nvPr/>
        </p:nvSpPr>
        <p:spPr>
          <a:xfrm>
            <a:off x="8016794" y="3026664"/>
            <a:ext cx="1971778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游玩B</a:t>
            </a:r>
            <a:endParaRPr sz="16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0"/>
                </a:solidFill>
                <a:latin typeface="微软雅黑" panose="020B0503020204020204" charset="-122"/>
                <a:ea typeface="微软雅黑" panose="020B0503020204020204" charset="-122"/>
              </a:rPr>
              <a:t>40分钟</a:t>
            </a:r>
            <a:endParaRPr sz="1600" b="1">
              <a:solidFill>
                <a:srgbClr val="123F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7833914" y="4041648"/>
            <a:ext cx="905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11:20</a:t>
            </a:r>
            <a:endParaRPr sz="15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0025149" y="2862072"/>
            <a:ext cx="2044930" cy="1005840"/>
          </a:xfrm>
          <a:prstGeom prst="rect">
            <a:avLst/>
          </a:prstGeom>
          <a:solidFill>
            <a:srgbClr val="0054A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10061725" y="3026664"/>
            <a:ext cx="1971778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返程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40分钟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V6_content_33"/>
          <p:cNvSpPr txBox="1"/>
          <p:nvPr/>
        </p:nvSpPr>
        <p:spPr>
          <a:xfrm>
            <a:off x="9878845" y="4041648"/>
            <a:ext cx="905256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12:00</a:t>
            </a:r>
            <a:endParaRPr sz="15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V6_content_34"/>
          <p:cNvSpPr txBox="1"/>
          <p:nvPr/>
        </p:nvSpPr>
        <p:spPr>
          <a:xfrm>
            <a:off x="11594592" y="4041648"/>
            <a:ext cx="10058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12:40</a:t>
            </a:r>
            <a:endParaRPr sz="15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V6_content_35"/>
          <p:cNvSpPr txBox="1"/>
          <p:nvPr/>
        </p:nvSpPr>
        <p:spPr>
          <a:xfrm>
            <a:off x="822960" y="4663440"/>
            <a:ext cx="521208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总耗时 220分钟</a:t>
            </a:r>
            <a:endParaRPr sz="2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V6_content_36"/>
          <p:cNvSpPr txBox="1"/>
          <p:nvPr/>
        </p:nvSpPr>
        <p:spPr>
          <a:xfrm>
            <a:off x="822960" y="5431536"/>
            <a:ext cx="10789920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不是只算开车和游玩，还包括等待与返程</a:t>
            </a:r>
            <a:endParaRPr sz="20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V6_content_37"/>
          <p:cNvSpPr txBox="1"/>
          <p:nvPr/>
        </p:nvSpPr>
        <p:spPr>
          <a:xfrm>
            <a:off x="822960" y="6016752"/>
            <a:ext cx="1024128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检查：B游玩结束12:00 ≤ 12:30；返回12:40 ≤ 13:00；门票40+30 ≤ 80元</a:t>
            </a:r>
            <a:endParaRPr sz="17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V6_footer_39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虚拟教学算例：A、B、时间和票价均用于解释规则，不是真实景点数据或实验结果。</a:t>
            </a:r>
            <a:endParaRPr sz="12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备查：规划统计：失败也要分清楚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18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103120"/>
            <a:ext cx="2651760" cy="1261872"/>
          </a:xfrm>
          <a:prstGeom prst="rect">
            <a:avLst/>
          </a:prstGeom>
          <a:solidFill>
            <a:srgbClr val="EEF0F3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14400" y="2359152"/>
            <a:ext cx="24688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输入错误</a:t>
            </a:r>
            <a:endParaRPr sz="1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932688" y="2871216"/>
            <a:ext cx="243230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单列</a:t>
            </a:r>
            <a:endParaRPr sz="16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40480" y="2103120"/>
            <a:ext cx="2651760" cy="1261872"/>
          </a:xfrm>
          <a:prstGeom prst="rect">
            <a:avLst/>
          </a:prstGeom>
          <a:solidFill>
            <a:srgbClr val="EEF0F3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6_content_19"/>
          <p:cNvSpPr txBox="1"/>
          <p:nvPr/>
        </p:nvSpPr>
        <p:spPr>
          <a:xfrm>
            <a:off x="3931920" y="2359152"/>
            <a:ext cx="24688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系统异常</a:t>
            </a:r>
            <a:endParaRPr sz="1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V6_content_20"/>
          <p:cNvSpPr txBox="1"/>
          <p:nvPr/>
        </p:nvSpPr>
        <p:spPr>
          <a:xfrm>
            <a:off x="3950208" y="2871216"/>
            <a:ext cx="243230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单列</a:t>
            </a:r>
            <a:endParaRPr sz="16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0" y="2103120"/>
            <a:ext cx="2651760" cy="126187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6949440" y="2359152"/>
            <a:ext cx="24688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未找到完整行程</a:t>
            </a:r>
            <a:endParaRPr sz="1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V6_content_23"/>
          <p:cNvSpPr txBox="1"/>
          <p:nvPr/>
        </p:nvSpPr>
        <p:spPr>
          <a:xfrm>
            <a:off x="6967728" y="2871216"/>
            <a:ext cx="243230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有效请求</a:t>
            </a:r>
            <a:endParaRPr sz="16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875519" y="2103120"/>
            <a:ext cx="2651760" cy="1261872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6_content_25"/>
          <p:cNvSpPr txBox="1"/>
          <p:nvPr/>
        </p:nvSpPr>
        <p:spPr>
          <a:xfrm>
            <a:off x="9966959" y="2359152"/>
            <a:ext cx="2468880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生成成功</a:t>
            </a:r>
            <a:endParaRPr sz="18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V6_content_26"/>
          <p:cNvSpPr txBox="1"/>
          <p:nvPr/>
        </p:nvSpPr>
        <p:spPr>
          <a:xfrm>
            <a:off x="9985247" y="2871216"/>
            <a:ext cx="2432304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36274"/>
                </a:solidFill>
                <a:latin typeface="微软雅黑" panose="020B0503020204020204" charset="-122"/>
                <a:ea typeface="微软雅黑" panose="020B0503020204020204" charset="-122"/>
              </a:rPr>
              <a:t>有效请求</a:t>
            </a:r>
            <a:endParaRPr sz="1600" b="0">
              <a:solidFill>
                <a:srgbClr val="53627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V6_content_27"/>
          <p:cNvSpPr txBox="1"/>
          <p:nvPr/>
        </p:nvSpPr>
        <p:spPr>
          <a:xfrm>
            <a:off x="822960" y="3785615"/>
            <a:ext cx="11155680" cy="6035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23F80"/>
                </a:solidFill>
                <a:latin typeface="微软雅黑" panose="020B0503020204020204" charset="-122"/>
              </a:rPr>
              <a:t>生成成功比例 = 成功数 ÷ 有效请求数</a:t>
            </a:r>
            <a:endParaRPr sz="2800" b="1">
              <a:solidFill>
                <a:srgbClr val="123F80"/>
              </a:solidFill>
              <a:latin typeface="微软雅黑" panose="020B0503020204020204" charset="-122"/>
            </a:endParaRPr>
          </a:p>
        </p:txBody>
      </p:sp>
      <p:sp>
        <p:nvSpPr>
          <p:cNvPr id="28" name="V6_content_28"/>
          <p:cNvSpPr txBox="1"/>
          <p:nvPr/>
        </p:nvSpPr>
        <p:spPr>
          <a:xfrm>
            <a:off x="822960" y="4608576"/>
            <a:ext cx="109728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有效请求：输入通过，且算法正常结束。</a:t>
            </a:r>
            <a:endParaRPr sz="19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822960" y="5358384"/>
            <a:ext cx="1069848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① 成功结果才算耗时 / 门票均值，并标明样本数。</a:t>
            </a:r>
            <a:endParaRPr sz="20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822960" y="6044184"/>
            <a:ext cx="10058400" cy="5577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</a:rPr>
              <a:t>② 日常运行与固定场景验证分开统计，不合并计算。</a:t>
            </a:r>
            <a:endParaRPr sz="20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V6_footer_32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失败不记零；统计页不展示用户名等可识别个人信息。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备查：路线选择规则（被问再翻）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19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  <a:ea typeface="微软雅黑" panose="020B0503020204020204" charset="-122"/>
              </a:rPr>
              <a:t>1 筛选</a:t>
            </a:r>
            <a:endParaRPr sz="2100" b="1">
              <a:solidFill>
                <a:srgbClr val="0054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V6_content_17"/>
          <p:cNvSpPr txBox="1"/>
          <p:nvPr/>
        </p:nvSpPr>
        <p:spPr>
          <a:xfrm>
            <a:off x="932688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排除无效景点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  <a:ea typeface="微软雅黑" panose="020B0503020204020204" charset="-122"/>
              </a:rPr>
              <a:t>保留候选集合</a:t>
            </a:r>
            <a:endParaRPr sz="1800" b="0">
              <a:solidFill>
                <a:srgbClr val="202B3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3575303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3950208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2 逐日构造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1" name="V6_content_21"/>
          <p:cNvSpPr txBox="1"/>
          <p:nvPr/>
        </p:nvSpPr>
        <p:spPr>
          <a:xfrm>
            <a:off x="3950208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</a:rPr>
              <a:t>兴趣匹配多的优先</a:t>
            </a:r>
            <a:endParaRPr sz="18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202B3A"/>
                </a:solidFill>
                <a:latin typeface="微软雅黑" panose="020B0503020204020204" charset="-122"/>
              </a:rPr>
              <a:t>同等时选新增时间少的</a:t>
            </a:r>
            <a:endParaRPr sz="18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6592824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6967728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3 边加边查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5" name="V6_content_25"/>
          <p:cNvSpPr txBox="1"/>
          <p:nvPr/>
        </p:nvSpPr>
        <p:spPr>
          <a:xfrm>
            <a:off x="6967728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</a:rPr>
              <a:t>每次预留返程</a:t>
            </a:r>
            <a:endParaRPr sz="18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202B3A"/>
                </a:solidFill>
                <a:latin typeface="微软雅黑" panose="020B0503020204020204" charset="-122"/>
              </a:rPr>
              <a:t>查开放、返程与预算</a:t>
            </a:r>
            <a:endParaRPr sz="18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9610344" y="2862072"/>
            <a:ext cx="164592" cy="329184"/>
          </a:xfrm>
          <a:prstGeom prst="chevron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75519" y="2167128"/>
            <a:ext cx="2651760" cy="1755648"/>
          </a:xfrm>
          <a:prstGeom prst="rect">
            <a:avLst/>
          </a:prstGeom>
          <a:solidFill>
            <a:srgbClr val="F1F6FC"/>
          </a:solidFill>
          <a:ln w="1016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985247" y="2414016"/>
            <a:ext cx="2432304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54A8"/>
                </a:solidFill>
                <a:latin typeface="微软雅黑" panose="020B0503020204020204" charset="-122"/>
              </a:rPr>
              <a:t>4 完整复核</a:t>
            </a:r>
            <a:endParaRPr sz="21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9" name="V6_content_29"/>
          <p:cNvSpPr txBox="1"/>
          <p:nvPr/>
        </p:nvSpPr>
        <p:spPr>
          <a:xfrm>
            <a:off x="9985247" y="3017520"/>
            <a:ext cx="2432304" cy="6492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2B3A"/>
                </a:solidFill>
                <a:latin typeface="微软雅黑" panose="020B0503020204020204" charset="-122"/>
              </a:rPr>
              <a:t>检查全部硬约束</a:t>
            </a:r>
            <a:endParaRPr sz="1800" b="0">
              <a:solidFill>
                <a:srgbClr val="202B3A"/>
              </a:solidFill>
              <a:latin typeface="微软雅黑" panose="020B0503020204020204" charset="-122"/>
            </a:endParaRPr>
          </a:p>
          <a:p>
            <a:pPr algn="ctr"/>
            <a:r>
              <a:rPr sz="1800" b="0">
                <a:solidFill>
                  <a:srgbClr val="202B3A"/>
                </a:solidFill>
                <a:latin typeface="微软雅黑" panose="020B0503020204020204" charset="-122"/>
              </a:rPr>
              <a:t>不通过先提示冲突</a:t>
            </a:r>
            <a:endParaRPr sz="18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0" name="V6_content_30"/>
          <p:cNvSpPr txBox="1"/>
          <p:nvPr/>
        </p:nvSpPr>
        <p:spPr>
          <a:xfrm>
            <a:off x="822960" y="4370832"/>
            <a:ext cx="112471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02B3A"/>
                </a:solidFill>
                <a:latin typeface="微软雅黑" panose="020B0503020204020204" charset="-122"/>
              </a:rPr>
              <a:t>选择规则：先比兴趣标签重合数，再比新增交通、等待与游玩时间；不使用综合评分。</a:t>
            </a:r>
            <a:endParaRPr sz="20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1" name="V6_content_31"/>
          <p:cNvSpPr txBox="1"/>
          <p:nvPr/>
        </p:nvSpPr>
        <p:spPr>
          <a:xfrm>
            <a:off x="822960" y="5065776"/>
            <a:ext cx="112471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2B3A"/>
                </a:solidFill>
                <a:latin typeface="微软雅黑" panose="020B0503020204020204" charset="-122"/>
              </a:rPr>
              <a:t>硬约束：闭馆前玩完、按时返回、门票不超预算、跨日不重复、每日至少一个景点。</a:t>
            </a:r>
            <a:endParaRPr sz="19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22960" y="5934456"/>
            <a:ext cx="10058400" cy="438912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6_content_33"/>
          <p:cNvSpPr txBox="1"/>
          <p:nvPr/>
        </p:nvSpPr>
        <p:spPr>
          <a:xfrm>
            <a:off x="950976" y="5966460"/>
            <a:ext cx="9802368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未生成完整行程只说明当前条件未组成，不等于必然无解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V6_footer_35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备查页。主讲不展开；被问到时只用一句话：兴趣匹配多的优先，相同选新增时间少的，每次预留返程并查约束。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\Users\Administrator\Desktop\广科logo.png广科logo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7020" y="314325"/>
            <a:ext cx="2161540" cy="379095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2638165" y="426626"/>
            <a:ext cx="10999814" cy="33972"/>
          </a:xfrm>
          <a:prstGeom prst="line">
            <a:avLst/>
          </a:prstGeom>
          <a:ln>
            <a:solidFill>
              <a:srgbClr val="1E94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等腰三角形 6"/>
          <p:cNvSpPr/>
          <p:nvPr/>
        </p:nvSpPr>
        <p:spPr>
          <a:xfrm rot="5400000">
            <a:off x="698120" y="1416453"/>
            <a:ext cx="230744" cy="198917"/>
          </a:xfrm>
          <a:prstGeom prst="triangle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广科辅助"/>
          <p:cNvPicPr>
            <a:picLocks noChangeAspect="1"/>
          </p:cNvPicPr>
          <p:nvPr/>
        </p:nvPicPr>
        <p:blipFill rotWithShape="1">
          <a:blip r:embed="rId2">
            <a:lum bright="-12000"/>
          </a:blip>
          <a:srcRect b="39996"/>
          <a:stretch>
            <a:fillRect/>
          </a:stretch>
        </p:blipFill>
        <p:spPr>
          <a:xfrm flipH="1">
            <a:off x="11310098" y="5804452"/>
            <a:ext cx="2369387" cy="2115586"/>
          </a:xfrm>
          <a:prstGeom prst="rect">
            <a:avLst/>
          </a:prstGeom>
        </p:spPr>
      </p:pic>
      <p:sp>
        <p:nvSpPr>
          <p:cNvPr id="13" name="V6_title_13"/>
          <p:cNvSpPr txBox="1"/>
          <p:nvPr/>
        </p:nvSpPr>
        <p:spPr>
          <a:xfrm>
            <a:off x="987552" y="1188720"/>
            <a:ext cx="11475720" cy="5760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54A8"/>
                </a:solidFill>
                <a:latin typeface="微软雅黑" panose="020B0503020204020204" charset="-122"/>
              </a:rPr>
              <a:t>备查三：接口与类（全表）</a:t>
            </a:r>
            <a:endParaRPr sz="24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14" name="V6_number_14"/>
          <p:cNvSpPr txBox="1"/>
          <p:nvPr/>
        </p:nvSpPr>
        <p:spPr>
          <a:xfrm>
            <a:off x="10149840" y="7415783"/>
            <a:ext cx="7772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74"/>
                </a:solidFill>
                <a:latin typeface="微软雅黑" panose="020B0503020204020204" charset="-122"/>
              </a:rPr>
              <a:t>20 / 20</a:t>
            </a:r>
            <a:endParaRPr sz="10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60" y="2002536"/>
            <a:ext cx="2331720" cy="493776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6_content_16"/>
          <p:cNvSpPr txBox="1"/>
          <p:nvPr/>
        </p:nvSpPr>
        <p:spPr>
          <a:xfrm>
            <a:off x="932688" y="2075688"/>
            <a:ext cx="2112263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54679" y="2002536"/>
            <a:ext cx="9281160" cy="493776"/>
          </a:xfrm>
          <a:prstGeom prst="rect">
            <a:avLst/>
          </a:prstGeom>
          <a:solidFill>
            <a:srgbClr val="005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6_content_18"/>
          <p:cNvSpPr txBox="1"/>
          <p:nvPr/>
        </p:nvSpPr>
        <p:spPr>
          <a:xfrm>
            <a:off x="3264408" y="2075688"/>
            <a:ext cx="9061704" cy="3749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最终版口径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22960" y="2496312"/>
            <a:ext cx="233172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6_content_20"/>
          <p:cNvSpPr txBox="1"/>
          <p:nvPr/>
        </p:nvSpPr>
        <p:spPr>
          <a:xfrm>
            <a:off x="932688" y="2606040"/>
            <a:ext cx="2112263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微软雅黑" panose="020B0503020204020204" charset="-122"/>
              </a:rPr>
              <a:t>页面接口</a:t>
            </a:r>
            <a:endParaRPr sz="15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54679" y="2496312"/>
            <a:ext cx="928116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6_content_22"/>
          <p:cNvSpPr txBox="1"/>
          <p:nvPr/>
        </p:nvSpPr>
        <p:spPr>
          <a:xfrm>
            <a:off x="3264408" y="2606040"/>
            <a:ext cx="906170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景点查询、生成行程、我的行程、后台维护与统计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22960" y="3118104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6_content_24"/>
          <p:cNvSpPr txBox="1"/>
          <p:nvPr/>
        </p:nvSpPr>
        <p:spPr>
          <a:xfrm>
            <a:off x="932688" y="3227832"/>
            <a:ext cx="2112263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微软雅黑" panose="020B0503020204020204" charset="-122"/>
              </a:rPr>
              <a:t>内部接口</a:t>
            </a:r>
            <a:endParaRPr sz="15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154679" y="3118104"/>
            <a:ext cx="9281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6_content_26"/>
          <p:cNvSpPr txBox="1"/>
          <p:nvPr/>
        </p:nvSpPr>
        <p:spPr>
          <a:xfrm>
            <a:off x="3264408" y="3227832"/>
            <a:ext cx="906170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规划服务输出行程或冲突清单；校验服务输出逐项检查结果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" y="3739896"/>
            <a:ext cx="233172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6_content_28"/>
          <p:cNvSpPr txBox="1"/>
          <p:nvPr/>
        </p:nvSpPr>
        <p:spPr>
          <a:xfrm>
            <a:off x="932688" y="3849624"/>
            <a:ext cx="2112263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微软雅黑" panose="020B0503020204020204" charset="-122"/>
              </a:rPr>
              <a:t>类职责</a:t>
            </a:r>
            <a:endParaRPr sz="15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154679" y="3739896"/>
            <a:ext cx="928116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6_content_30"/>
          <p:cNvSpPr txBox="1"/>
          <p:nvPr/>
        </p:nvSpPr>
        <p:spPr>
          <a:xfrm>
            <a:off x="3264408" y="3849624"/>
            <a:ext cx="906170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Spot 管景点资料；Itinerary 管归属与摘要；TravelLeg 管有方向路段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" y="4361688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6_content_32"/>
          <p:cNvSpPr txBox="1"/>
          <p:nvPr/>
        </p:nvSpPr>
        <p:spPr>
          <a:xfrm>
            <a:off x="932688" y="4471416"/>
            <a:ext cx="2112263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微软雅黑" panose="020B0503020204020204" charset="-122"/>
              </a:rPr>
              <a:t>权限边界</a:t>
            </a:r>
            <a:endParaRPr sz="15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154679" y="4361688"/>
            <a:ext cx="9281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6_content_34"/>
          <p:cNvSpPr txBox="1"/>
          <p:nvPr/>
        </p:nvSpPr>
        <p:spPr>
          <a:xfrm>
            <a:off x="3264408" y="4471416"/>
            <a:ext cx="906170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普通用户只访问本人行程；管理员维护数据并查看汇总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22960" y="4983480"/>
            <a:ext cx="233172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6_content_36"/>
          <p:cNvSpPr txBox="1"/>
          <p:nvPr/>
        </p:nvSpPr>
        <p:spPr>
          <a:xfrm>
            <a:off x="932688" y="5093208"/>
            <a:ext cx="2112263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微软雅黑" panose="020B0503020204020204" charset="-122"/>
              </a:rPr>
              <a:t>外部接口</a:t>
            </a:r>
            <a:endParaRPr sz="15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154679" y="4983480"/>
            <a:ext cx="9281160" cy="621792"/>
          </a:xfrm>
          <a:prstGeom prst="rect">
            <a:avLst/>
          </a:prstGeom>
          <a:solidFill>
            <a:srgbClr val="F1F6FC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6_content_38"/>
          <p:cNvSpPr txBox="1"/>
          <p:nvPr/>
        </p:nvSpPr>
        <p:spPr>
          <a:xfrm>
            <a:off x="3264408" y="5093208"/>
            <a:ext cx="906170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腾讯地图 JS 只做点位与顺序展示，失败保留文字行程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22960" y="5605272"/>
            <a:ext cx="2331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6_content_40"/>
          <p:cNvSpPr txBox="1"/>
          <p:nvPr/>
        </p:nvSpPr>
        <p:spPr>
          <a:xfrm>
            <a:off x="932688" y="5715000"/>
            <a:ext cx="2112263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54A8"/>
                </a:solidFill>
                <a:latin typeface="微软雅黑" panose="020B0503020204020204" charset="-122"/>
              </a:rPr>
              <a:t>数据关系</a:t>
            </a:r>
            <a:endParaRPr sz="1500" b="1">
              <a:solidFill>
                <a:srgbClr val="0054A8"/>
              </a:solidFill>
              <a:latin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154679" y="5605272"/>
            <a:ext cx="92811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B8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6_content_42"/>
          <p:cNvSpPr txBox="1"/>
          <p:nvPr/>
        </p:nvSpPr>
        <p:spPr>
          <a:xfrm>
            <a:off x="3264408" y="5715000"/>
            <a:ext cx="906170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02B3A"/>
                </a:solidFill>
                <a:latin typeface="微软雅黑" panose="020B0503020204020204" charset="-122"/>
              </a:rPr>
              <a:t>用户—行程一对多；行程—明细一对多；景点—标签多对多</a:t>
            </a:r>
            <a:endParaRPr sz="1300" b="0">
              <a:solidFill>
                <a:srgbClr val="202B3A"/>
              </a:solidFill>
              <a:latin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749808" y="6903720"/>
            <a:ext cx="10177272" cy="0"/>
          </a:xfrm>
          <a:prstGeom prst="line">
            <a:avLst/>
          </a:prstGeom>
          <a:ln w="8890">
            <a:solidFill>
              <a:srgbClr val="B8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V6_footer_44"/>
          <p:cNvSpPr txBox="1"/>
          <p:nvPr/>
        </p:nvSpPr>
        <p:spPr>
          <a:xfrm>
            <a:off x="749808" y="7059168"/>
            <a:ext cx="99669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74"/>
                </a:solidFill>
                <a:latin typeface="微软雅黑" panose="020B0503020204020204" charset="-122"/>
              </a:rPr>
              <a:t>备查页。接口与类为拟设计，最终以实现为准；路线规则以开题报告最终版为准。</a:t>
            </a:r>
            <a:endParaRPr sz="1200" b="0">
              <a:solidFill>
                <a:srgbClr val="53627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3987</Words>
  <Application>WPS 演示</Application>
  <PresentationFormat>自定义</PresentationFormat>
  <Paragraphs>563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 Unicode MS</vt:lpstr>
      <vt:lpstr>Calibri</vt:lpstr>
      <vt:lpstr>思源黑体 CN Medium</vt:lpstr>
      <vt:lpstr>黑体</vt:lpstr>
      <vt:lpstr>思源黑体 CN Bold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基于Django的短途旅游路线规划系统设计与实现</dc:title>
  <dc:creator>张三</dc:creator>
  <cp:keywords>开题答辩,Django,时间窗,长沙,方案</cp:keywords>
  <dc:description>正文依据第六版开题报告；主讲13页，备查3页；设计与实验均按计划表述。</dc:description>
  <dc:subject>本科毕业设计开题方案；长沙及周边驾车案例</dc:subject>
  <cp:lastModifiedBy>Assassin</cp:lastModifiedBy>
  <cp:revision>394</cp:revision>
  <dcterms:created xsi:type="dcterms:W3CDTF">1900-01-01T00:00:00Z</dcterms:created>
  <dcterms:modified xsi:type="dcterms:W3CDTF">2026-10-14T08:43:56Z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FE2F59BF72BB4E30A5E1232D9A29AB03</vt:lpwstr>
  </property>
</Properties>
</file>